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57" r:id="rId5"/>
  </p:sldIdLst>
  <p:sldSz cx="36576000" cy="27432000"/>
  <p:notesSz cx="6935788" cy="9220200"/>
  <p:defaultTextStyle>
    <a:defPPr>
      <a:defRPr lang="en-US"/>
    </a:defPPr>
    <a:lvl1pPr algn="l" rtl="0" fontAlgn="base">
      <a:spcBef>
        <a:spcPct val="0"/>
      </a:spcBef>
      <a:spcAft>
        <a:spcPct val="0"/>
      </a:spcAft>
      <a:defRPr kern="1200">
        <a:solidFill>
          <a:schemeClr val="tx1"/>
        </a:solidFill>
        <a:latin typeface="Arial" charset="0"/>
        <a:ea typeface="MS PGothic" pitchFamily="34" charset="-128"/>
        <a:cs typeface="+mn-cs"/>
      </a:defRPr>
    </a:lvl1pPr>
    <a:lvl2pPr marL="1828800" algn="l" rtl="0" fontAlgn="base">
      <a:spcBef>
        <a:spcPct val="0"/>
      </a:spcBef>
      <a:spcAft>
        <a:spcPct val="0"/>
      </a:spcAft>
      <a:defRPr kern="1200">
        <a:solidFill>
          <a:schemeClr val="tx1"/>
        </a:solidFill>
        <a:latin typeface="Arial" charset="0"/>
        <a:ea typeface="MS PGothic" pitchFamily="34" charset="-128"/>
        <a:cs typeface="+mn-cs"/>
      </a:defRPr>
    </a:lvl2pPr>
    <a:lvl3pPr marL="3657600" algn="l" rtl="0" fontAlgn="base">
      <a:spcBef>
        <a:spcPct val="0"/>
      </a:spcBef>
      <a:spcAft>
        <a:spcPct val="0"/>
      </a:spcAft>
      <a:defRPr kern="1200">
        <a:solidFill>
          <a:schemeClr val="tx1"/>
        </a:solidFill>
        <a:latin typeface="Arial" charset="0"/>
        <a:ea typeface="MS PGothic" pitchFamily="34" charset="-128"/>
        <a:cs typeface="+mn-cs"/>
      </a:defRPr>
    </a:lvl3pPr>
    <a:lvl4pPr marL="5486400" algn="l" rtl="0" fontAlgn="base">
      <a:spcBef>
        <a:spcPct val="0"/>
      </a:spcBef>
      <a:spcAft>
        <a:spcPct val="0"/>
      </a:spcAft>
      <a:defRPr kern="1200">
        <a:solidFill>
          <a:schemeClr val="tx1"/>
        </a:solidFill>
        <a:latin typeface="Arial" charset="0"/>
        <a:ea typeface="MS PGothic" pitchFamily="34" charset="-128"/>
        <a:cs typeface="+mn-cs"/>
      </a:defRPr>
    </a:lvl4pPr>
    <a:lvl5pPr marL="7315200" algn="l" rtl="0" fontAlgn="base">
      <a:spcBef>
        <a:spcPct val="0"/>
      </a:spcBef>
      <a:spcAft>
        <a:spcPct val="0"/>
      </a:spcAft>
      <a:defRPr kern="1200">
        <a:solidFill>
          <a:schemeClr val="tx1"/>
        </a:solidFill>
        <a:latin typeface="Arial" charset="0"/>
        <a:ea typeface="MS PGothic" pitchFamily="34" charset="-128"/>
        <a:cs typeface="+mn-cs"/>
      </a:defRPr>
    </a:lvl5pPr>
    <a:lvl6pPr marL="9144000" algn="l" defTabSz="3657600" rtl="0" eaLnBrk="1" latinLnBrk="0" hangingPunct="1">
      <a:defRPr kern="1200">
        <a:solidFill>
          <a:schemeClr val="tx1"/>
        </a:solidFill>
        <a:latin typeface="Arial" charset="0"/>
        <a:ea typeface="MS PGothic" pitchFamily="34" charset="-128"/>
        <a:cs typeface="+mn-cs"/>
      </a:defRPr>
    </a:lvl6pPr>
    <a:lvl7pPr marL="10972800" algn="l" defTabSz="3657600" rtl="0" eaLnBrk="1" latinLnBrk="0" hangingPunct="1">
      <a:defRPr kern="1200">
        <a:solidFill>
          <a:schemeClr val="tx1"/>
        </a:solidFill>
        <a:latin typeface="Arial" charset="0"/>
        <a:ea typeface="MS PGothic" pitchFamily="34" charset="-128"/>
        <a:cs typeface="+mn-cs"/>
      </a:defRPr>
    </a:lvl7pPr>
    <a:lvl8pPr marL="12801600" algn="l" defTabSz="3657600" rtl="0" eaLnBrk="1" latinLnBrk="0" hangingPunct="1">
      <a:defRPr kern="1200">
        <a:solidFill>
          <a:schemeClr val="tx1"/>
        </a:solidFill>
        <a:latin typeface="Arial" charset="0"/>
        <a:ea typeface="MS PGothic" pitchFamily="34" charset="-128"/>
        <a:cs typeface="+mn-cs"/>
      </a:defRPr>
    </a:lvl8pPr>
    <a:lvl9pPr marL="14630400" algn="l" defTabSz="3657600" rtl="0" eaLnBrk="1" latinLnBrk="0" hangingPunct="1">
      <a:defRPr kern="1200">
        <a:solidFill>
          <a:schemeClr val="tx1"/>
        </a:solidFill>
        <a:latin typeface="Arial" charset="0"/>
        <a:ea typeface="MS PGothic" pitchFamily="34" charset="-128"/>
        <a:cs typeface="+mn-cs"/>
      </a:defRPr>
    </a:lvl9pPr>
  </p:defaultTextStyle>
  <p:extLst>
    <p:ext uri="{EFAFB233-063F-42B5-8137-9DF3F51BA10A}">
      <p15:sldGuideLst xmlns:p15="http://schemas.microsoft.com/office/powerpoint/2012/main">
        <p15:guide id="1" orient="horz" pos="9752">
          <p15:clr>
            <a:srgbClr val="A4A3A4"/>
          </p15:clr>
        </p15:guide>
        <p15:guide id="2" pos="11076">
          <p15:clr>
            <a:srgbClr val="A4A3A4"/>
          </p15:clr>
        </p15:guide>
      </p15:sldGuideLst>
    </p:ext>
    <p:ext uri="{2D200454-40CA-4A62-9FC3-DE9A4176ACB9}">
      <p15:notesGuideLst xmlns:p15="http://schemas.microsoft.com/office/powerpoint/2012/main">
        <p15:guide id="1" orient="horz" pos="2904">
          <p15:clr>
            <a:srgbClr val="A4A3A4"/>
          </p15:clr>
        </p15:guide>
        <p15:guide id="2" pos="218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0000"/>
    <a:srgbClr val="FF0000"/>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39" autoAdjust="0"/>
    <p:restoredTop sz="94464" autoAdjust="0"/>
  </p:normalViewPr>
  <p:slideViewPr>
    <p:cSldViewPr snapToGrid="0">
      <p:cViewPr varScale="1">
        <p:scale>
          <a:sx n="17" d="100"/>
          <a:sy n="17" d="100"/>
        </p:scale>
        <p:origin x="1512" y="112"/>
      </p:cViewPr>
      <p:guideLst>
        <p:guide orient="horz" pos="9752"/>
        <p:guide pos="110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1" d="100"/>
          <a:sy n="51" d="100"/>
        </p:scale>
        <p:origin x="-2850" y="-96"/>
      </p:cViewPr>
      <p:guideLst>
        <p:guide orient="horz" pos="2904"/>
        <p:guide pos="218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0"/>
            <a:ext cx="3005138"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mn-ea"/>
                <a:cs typeface="+mn-cs"/>
              </a:defRPr>
            </a:lvl1pPr>
          </a:lstStyle>
          <a:p>
            <a:pPr>
              <a:defRPr/>
            </a:pPr>
            <a:endParaRPr lang="en-US" dirty="0"/>
          </a:p>
        </p:txBody>
      </p:sp>
      <p:sp>
        <p:nvSpPr>
          <p:cNvPr id="122883" name="Rectangle 3"/>
          <p:cNvSpPr>
            <a:spLocks noGrp="1" noChangeArrowheads="1"/>
          </p:cNvSpPr>
          <p:nvPr>
            <p:ph type="dt" sz="quarter" idx="1"/>
          </p:nvPr>
        </p:nvSpPr>
        <p:spPr bwMode="auto">
          <a:xfrm>
            <a:off x="3929063" y="0"/>
            <a:ext cx="3005137"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mn-ea"/>
                <a:cs typeface="+mn-cs"/>
              </a:defRPr>
            </a:lvl1pPr>
          </a:lstStyle>
          <a:p>
            <a:pPr>
              <a:defRPr/>
            </a:pPr>
            <a:endParaRPr lang="en-US" dirty="0"/>
          </a:p>
        </p:txBody>
      </p:sp>
      <p:sp>
        <p:nvSpPr>
          <p:cNvPr id="122884" name="Rectangle 4"/>
          <p:cNvSpPr>
            <a:spLocks noGrp="1" noChangeArrowheads="1"/>
          </p:cNvSpPr>
          <p:nvPr>
            <p:ph type="ftr" sz="quarter" idx="2"/>
          </p:nvPr>
        </p:nvSpPr>
        <p:spPr bwMode="auto">
          <a:xfrm>
            <a:off x="0" y="8758238"/>
            <a:ext cx="3005138"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mn-ea"/>
                <a:cs typeface="+mn-cs"/>
              </a:defRPr>
            </a:lvl1pPr>
          </a:lstStyle>
          <a:p>
            <a:pPr>
              <a:defRPr/>
            </a:pPr>
            <a:endParaRPr lang="en-US" dirty="0"/>
          </a:p>
        </p:txBody>
      </p:sp>
      <p:sp>
        <p:nvSpPr>
          <p:cNvPr id="122885" name="Rectangle 5"/>
          <p:cNvSpPr>
            <a:spLocks noGrp="1" noChangeArrowheads="1"/>
          </p:cNvSpPr>
          <p:nvPr>
            <p:ph type="sldNum" sz="quarter" idx="3"/>
          </p:nvPr>
        </p:nvSpPr>
        <p:spPr bwMode="auto">
          <a:xfrm>
            <a:off x="3929063" y="8758238"/>
            <a:ext cx="3005137"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34" charset="0"/>
                <a:ea typeface="ＭＳ Ｐゴシック" pitchFamily="34" charset="-128"/>
                <a:cs typeface="Arial" pitchFamily="34" charset="0"/>
              </a:defRPr>
            </a:lvl1pPr>
          </a:lstStyle>
          <a:p>
            <a:pPr>
              <a:defRPr/>
            </a:pPr>
            <a:fld id="{E079C98E-4167-4E7D-B9BB-53350EF9ECC0}" type="slidenum">
              <a:rPr lang="en-US" altLang="en-US"/>
              <a:pPr>
                <a:defRPr/>
              </a:pPr>
              <a:t>‹#›</a:t>
            </a:fld>
            <a:endParaRPr lang="en-US" altLang="en-US" dirty="0"/>
          </a:p>
        </p:txBody>
      </p:sp>
    </p:spTree>
    <p:extLst>
      <p:ext uri="{BB962C8B-B14F-4D97-AF65-F5344CB8AC3E}">
        <p14:creationId xmlns:p14="http://schemas.microsoft.com/office/powerpoint/2010/main" val="2337190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bwMode="auto">
          <a:xfrm>
            <a:off x="0" y="0"/>
            <a:ext cx="3005138"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mn-ea"/>
                <a:cs typeface="+mn-cs"/>
              </a:defRPr>
            </a:lvl1pPr>
          </a:lstStyle>
          <a:p>
            <a:pPr>
              <a:defRPr/>
            </a:pPr>
            <a:endParaRPr lang="en-US" dirty="0"/>
          </a:p>
        </p:txBody>
      </p:sp>
      <p:sp>
        <p:nvSpPr>
          <p:cNvPr id="121859" name="Rectangle 3"/>
          <p:cNvSpPr>
            <a:spLocks noGrp="1" noChangeArrowheads="1"/>
          </p:cNvSpPr>
          <p:nvPr>
            <p:ph type="dt" idx="1"/>
          </p:nvPr>
        </p:nvSpPr>
        <p:spPr bwMode="auto">
          <a:xfrm>
            <a:off x="3929063" y="0"/>
            <a:ext cx="3005137"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mn-ea"/>
                <a:cs typeface="+mn-cs"/>
              </a:defRPr>
            </a:lvl1pPr>
          </a:lstStyle>
          <a:p>
            <a:pPr>
              <a:defRPr/>
            </a:pPr>
            <a:endParaRPr lang="en-US" dirty="0"/>
          </a:p>
        </p:txBody>
      </p:sp>
      <p:sp>
        <p:nvSpPr>
          <p:cNvPr id="8196" name="Rectangle 4"/>
          <p:cNvSpPr>
            <a:spLocks noGrp="1" noRot="1" noChangeAspect="1" noChangeArrowheads="1" noTextEdit="1"/>
          </p:cNvSpPr>
          <p:nvPr>
            <p:ph type="sldImg" idx="2"/>
          </p:nvPr>
        </p:nvSpPr>
        <p:spPr bwMode="auto">
          <a:xfrm>
            <a:off x="1162050" y="692150"/>
            <a:ext cx="4611688" cy="3457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61" name="Rectangle 5"/>
          <p:cNvSpPr>
            <a:spLocks noGrp="1" noChangeArrowheads="1"/>
          </p:cNvSpPr>
          <p:nvPr>
            <p:ph type="body" sz="quarter" idx="3"/>
          </p:nvPr>
        </p:nvSpPr>
        <p:spPr bwMode="auto">
          <a:xfrm>
            <a:off x="693738" y="4379913"/>
            <a:ext cx="5548312" cy="41481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1862" name="Rectangle 6"/>
          <p:cNvSpPr>
            <a:spLocks noGrp="1" noChangeArrowheads="1"/>
          </p:cNvSpPr>
          <p:nvPr>
            <p:ph type="ftr" sz="quarter" idx="4"/>
          </p:nvPr>
        </p:nvSpPr>
        <p:spPr bwMode="auto">
          <a:xfrm>
            <a:off x="0" y="8758238"/>
            <a:ext cx="3005138"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mn-ea"/>
                <a:cs typeface="+mn-cs"/>
              </a:defRPr>
            </a:lvl1pPr>
          </a:lstStyle>
          <a:p>
            <a:pPr>
              <a:defRPr/>
            </a:pPr>
            <a:endParaRPr lang="en-US" dirty="0"/>
          </a:p>
        </p:txBody>
      </p:sp>
      <p:sp>
        <p:nvSpPr>
          <p:cNvPr id="121863" name="Rectangle 7"/>
          <p:cNvSpPr>
            <a:spLocks noGrp="1" noChangeArrowheads="1"/>
          </p:cNvSpPr>
          <p:nvPr>
            <p:ph type="sldNum" sz="quarter" idx="5"/>
          </p:nvPr>
        </p:nvSpPr>
        <p:spPr bwMode="auto">
          <a:xfrm>
            <a:off x="3929063" y="8758238"/>
            <a:ext cx="3005137"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34" charset="0"/>
                <a:ea typeface="ＭＳ Ｐゴシック" pitchFamily="34" charset="-128"/>
                <a:cs typeface="Arial" pitchFamily="34" charset="0"/>
              </a:defRPr>
            </a:lvl1pPr>
          </a:lstStyle>
          <a:p>
            <a:pPr>
              <a:defRPr/>
            </a:pPr>
            <a:fld id="{ADA699F5-9336-4D5C-AD16-F47890731D1C}" type="slidenum">
              <a:rPr lang="en-US" altLang="en-US"/>
              <a:pPr>
                <a:defRPr/>
              </a:pPr>
              <a:t>‹#›</a:t>
            </a:fld>
            <a:endParaRPr lang="en-US" altLang="en-US" dirty="0"/>
          </a:p>
        </p:txBody>
      </p:sp>
    </p:spTree>
    <p:extLst>
      <p:ext uri="{BB962C8B-B14F-4D97-AF65-F5344CB8AC3E}">
        <p14:creationId xmlns:p14="http://schemas.microsoft.com/office/powerpoint/2010/main" val="26100291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4800" kern="1200">
        <a:solidFill>
          <a:schemeClr val="tx1"/>
        </a:solidFill>
        <a:latin typeface="Arial" charset="0"/>
        <a:ea typeface="MS PGothic" pitchFamily="34" charset="-128"/>
        <a:cs typeface="ＭＳ Ｐゴシック" charset="0"/>
      </a:defRPr>
    </a:lvl1pPr>
    <a:lvl2pPr marL="1828800" algn="l" rtl="0" eaLnBrk="0" fontAlgn="base" hangingPunct="0">
      <a:spcBef>
        <a:spcPct val="30000"/>
      </a:spcBef>
      <a:spcAft>
        <a:spcPct val="0"/>
      </a:spcAft>
      <a:defRPr sz="4800" kern="1200">
        <a:solidFill>
          <a:schemeClr val="tx1"/>
        </a:solidFill>
        <a:latin typeface="Arial" charset="0"/>
        <a:ea typeface="MS PGothic" pitchFamily="34" charset="-128"/>
        <a:cs typeface="+mn-cs"/>
      </a:defRPr>
    </a:lvl2pPr>
    <a:lvl3pPr marL="3657600" algn="l" rtl="0" eaLnBrk="0" fontAlgn="base" hangingPunct="0">
      <a:spcBef>
        <a:spcPct val="30000"/>
      </a:spcBef>
      <a:spcAft>
        <a:spcPct val="0"/>
      </a:spcAft>
      <a:defRPr sz="4800" kern="1200">
        <a:solidFill>
          <a:schemeClr val="tx1"/>
        </a:solidFill>
        <a:latin typeface="Arial" charset="0"/>
        <a:ea typeface="MS PGothic" pitchFamily="34" charset="-128"/>
        <a:cs typeface="+mn-cs"/>
      </a:defRPr>
    </a:lvl3pPr>
    <a:lvl4pPr marL="5486400" algn="l" rtl="0" eaLnBrk="0" fontAlgn="base" hangingPunct="0">
      <a:spcBef>
        <a:spcPct val="30000"/>
      </a:spcBef>
      <a:spcAft>
        <a:spcPct val="0"/>
      </a:spcAft>
      <a:defRPr sz="4800" kern="1200">
        <a:solidFill>
          <a:schemeClr val="tx1"/>
        </a:solidFill>
        <a:latin typeface="Arial" charset="0"/>
        <a:ea typeface="MS PGothic" pitchFamily="34" charset="-128"/>
        <a:cs typeface="+mn-cs"/>
      </a:defRPr>
    </a:lvl4pPr>
    <a:lvl5pPr marL="7315200" algn="l" rtl="0" eaLnBrk="0" fontAlgn="base" hangingPunct="0">
      <a:spcBef>
        <a:spcPct val="30000"/>
      </a:spcBef>
      <a:spcAft>
        <a:spcPct val="0"/>
      </a:spcAft>
      <a:defRPr sz="4800" kern="1200">
        <a:solidFill>
          <a:schemeClr val="tx1"/>
        </a:solidFill>
        <a:latin typeface="Arial" charset="0"/>
        <a:ea typeface="MS PGothic" pitchFamily="34" charset="-128"/>
        <a:cs typeface="+mn-cs"/>
      </a:defRPr>
    </a:lvl5pPr>
    <a:lvl6pPr marL="9144000" algn="l" defTabSz="3657600" rtl="0" eaLnBrk="1" latinLnBrk="0" hangingPunct="1">
      <a:defRPr sz="4800" kern="1200">
        <a:solidFill>
          <a:schemeClr val="tx1"/>
        </a:solidFill>
        <a:latin typeface="+mn-lt"/>
        <a:ea typeface="+mn-ea"/>
        <a:cs typeface="+mn-cs"/>
      </a:defRPr>
    </a:lvl6pPr>
    <a:lvl7pPr marL="10972800" algn="l" defTabSz="3657600" rtl="0" eaLnBrk="1" latinLnBrk="0" hangingPunct="1">
      <a:defRPr sz="4800" kern="1200">
        <a:solidFill>
          <a:schemeClr val="tx1"/>
        </a:solidFill>
        <a:latin typeface="+mn-lt"/>
        <a:ea typeface="+mn-ea"/>
        <a:cs typeface="+mn-cs"/>
      </a:defRPr>
    </a:lvl7pPr>
    <a:lvl8pPr marL="12801600" algn="l" defTabSz="3657600" rtl="0" eaLnBrk="1" latinLnBrk="0" hangingPunct="1">
      <a:defRPr sz="4800" kern="1200">
        <a:solidFill>
          <a:schemeClr val="tx1"/>
        </a:solidFill>
        <a:latin typeface="+mn-lt"/>
        <a:ea typeface="+mn-ea"/>
        <a:cs typeface="+mn-cs"/>
      </a:defRPr>
    </a:lvl8pPr>
    <a:lvl9pPr marL="14630400" algn="l" defTabSz="3657600" rtl="0" eaLnBrk="1" latinLnBrk="0" hangingPunct="1">
      <a:defRPr sz="4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DA699F5-9336-4D5C-AD16-F47890731D1C}" type="slidenum">
              <a:rPr lang="en-US" altLang="en-US" smtClean="0"/>
              <a:pPr>
                <a:defRPr/>
              </a:pPr>
              <a:t>1</a:t>
            </a:fld>
            <a:endParaRPr lang="en-US" altLang="en-US" dirty="0"/>
          </a:p>
        </p:txBody>
      </p:sp>
    </p:spTree>
    <p:extLst>
      <p:ext uri="{BB962C8B-B14F-4D97-AF65-F5344CB8AC3E}">
        <p14:creationId xmlns:p14="http://schemas.microsoft.com/office/powerpoint/2010/main" val="1281673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p:cNvSpPr>
            <a:spLocks noChangeArrowheads="1"/>
          </p:cNvSpPr>
          <p:nvPr userDrawn="1"/>
        </p:nvSpPr>
        <p:spPr bwMode="auto">
          <a:xfrm>
            <a:off x="0" y="895352"/>
            <a:ext cx="36576000" cy="2686048"/>
          </a:xfrm>
          <a:prstGeom prst="rect">
            <a:avLst/>
          </a:prstGeom>
          <a:solidFill>
            <a:schemeClr val="bg1">
              <a:alpha val="79999"/>
            </a:schemeClr>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lIns="365760" tIns="182880" rIns="365760" bIns="182880" anchor="ctr"/>
          <a:lstStyle/>
          <a:p>
            <a:pPr algn="ctr">
              <a:defRPr/>
            </a:pPr>
            <a:endParaRPr lang="en-US" dirty="0">
              <a:solidFill>
                <a:schemeClr val="lt1"/>
              </a:solidFill>
              <a:latin typeface="+mn-lt"/>
              <a:ea typeface="+mn-ea"/>
            </a:endParaRPr>
          </a:p>
        </p:txBody>
      </p:sp>
      <p:sp>
        <p:nvSpPr>
          <p:cNvPr id="3" name="Content Placeholder 2"/>
          <p:cNvSpPr>
            <a:spLocks noGrp="1"/>
          </p:cNvSpPr>
          <p:nvPr>
            <p:ph idx="1"/>
          </p:nvPr>
        </p:nvSpPr>
        <p:spPr>
          <a:xfrm>
            <a:off x="605368" y="3956805"/>
            <a:ext cx="11400364" cy="20393328"/>
          </a:xfrm>
        </p:spPr>
        <p:txBody>
          <a:bodyPr/>
          <a:lstStyle>
            <a:lvl1pPr>
              <a:spcBef>
                <a:spcPts val="3200"/>
              </a:spcBef>
              <a:defRPr/>
            </a:lvl1pPr>
            <a:lvl2pPr>
              <a:defRPr sz="7200"/>
            </a:lvl2pPr>
            <a:lvl3pPr>
              <a:defRPr sz="7200"/>
            </a:lvl3pPr>
            <a:lvl4pPr>
              <a:defRPr sz="7200"/>
            </a:lvl4pPr>
            <a:lvl5pPr>
              <a:defRPr sz="7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5520307" y="609600"/>
            <a:ext cx="25332267" cy="3257552"/>
          </a:xfrm>
        </p:spPr>
        <p:txBody>
          <a:bodyPr lIns="182880" rIns="182880">
            <a:noAutofit/>
          </a:bodyPr>
          <a:lstStyle>
            <a:lvl1pPr algn="ctr">
              <a:defRPr sz="8000">
                <a:solidFill>
                  <a:schemeClr val="tx2"/>
                </a:solidFill>
              </a:defRPr>
            </a:lvl1pPr>
          </a:lstStyle>
          <a:p>
            <a:r>
              <a:rPr lang="en-US" dirty="0"/>
              <a:t>Click to edit Master title style</a:t>
            </a:r>
          </a:p>
        </p:txBody>
      </p:sp>
      <p:sp>
        <p:nvSpPr>
          <p:cNvPr id="6" name="Content Placeholder 2"/>
          <p:cNvSpPr>
            <a:spLocks noGrp="1"/>
          </p:cNvSpPr>
          <p:nvPr>
            <p:ph idx="11"/>
          </p:nvPr>
        </p:nvSpPr>
        <p:spPr>
          <a:xfrm>
            <a:off x="12644968" y="3956805"/>
            <a:ext cx="11400364" cy="21206128"/>
          </a:xfrm>
        </p:spPr>
        <p:txBody>
          <a:bodyPr/>
          <a:lstStyle>
            <a:lvl1pPr>
              <a:spcBef>
                <a:spcPts val="3200"/>
              </a:spcBef>
              <a:defRPr/>
            </a:lvl1pPr>
            <a:lvl2pPr>
              <a:defRPr sz="7200"/>
            </a:lvl2pPr>
            <a:lvl3pPr>
              <a:defRPr sz="7200"/>
            </a:lvl3pPr>
            <a:lvl4pPr>
              <a:defRPr sz="7200"/>
            </a:lvl4pPr>
            <a:lvl5pPr>
              <a:defRPr sz="7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2"/>
          </p:nvPr>
        </p:nvSpPr>
        <p:spPr>
          <a:xfrm>
            <a:off x="24684568" y="3956805"/>
            <a:ext cx="11400364" cy="21206128"/>
          </a:xfrm>
        </p:spPr>
        <p:txBody>
          <a:bodyPr/>
          <a:lstStyle>
            <a:lvl1pPr>
              <a:spcBef>
                <a:spcPts val="3200"/>
              </a:spcBef>
              <a:defRPr/>
            </a:lvl1pPr>
            <a:lvl2pPr>
              <a:defRPr sz="7200"/>
            </a:lvl2pPr>
            <a:lvl3pPr>
              <a:defRPr sz="7200"/>
            </a:lvl3pPr>
            <a:lvl4pPr>
              <a:defRPr sz="7200"/>
            </a:lvl4pPr>
            <a:lvl5pPr>
              <a:defRPr sz="7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568622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6" name="Picture 15" descr="161174 - Tech Ladder PPT Temp16 x 9b.jpg"/>
          <p:cNvPicPr>
            <a:picLocks noChangeAspect="1"/>
          </p:cNvPicPr>
          <p:nvPr userDrawn="1"/>
        </p:nvPicPr>
        <p:blipFill rotWithShape="1">
          <a:blip r:embed="rId4" cstate="print">
            <a:extLst>
              <a:ext uri="{28A0092B-C50C-407E-A947-70E740481C1C}">
                <a14:useLocalDpi xmlns:a14="http://schemas.microsoft.com/office/drawing/2010/main" val="0"/>
              </a:ext>
            </a:extLst>
          </a:blip>
          <a:srcRect r="22039" b="3007"/>
          <a:stretch/>
        </p:blipFill>
        <p:spPr>
          <a:xfrm>
            <a:off x="0" y="0"/>
            <a:ext cx="36576000" cy="25596586"/>
          </a:xfrm>
          <a:prstGeom prst="rect">
            <a:avLst/>
          </a:prstGeom>
        </p:spPr>
      </p:pic>
      <p:sp>
        <p:nvSpPr>
          <p:cNvPr id="20" name="Rectangle 19"/>
          <p:cNvSpPr/>
          <p:nvPr userDrawn="1"/>
        </p:nvSpPr>
        <p:spPr>
          <a:xfrm>
            <a:off x="2" y="25298400"/>
            <a:ext cx="35217100" cy="18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5760" tIns="182880" rIns="365760" bIns="182880" anchor="ctr"/>
          <a:lstStyle/>
          <a:p>
            <a:pPr algn="ctr">
              <a:defRPr/>
            </a:pPr>
            <a:endParaRPr lang="en-US" dirty="0"/>
          </a:p>
        </p:txBody>
      </p:sp>
      <p:sp>
        <p:nvSpPr>
          <p:cNvPr id="19" name="Rectangle 18"/>
          <p:cNvSpPr/>
          <p:nvPr userDrawn="1"/>
        </p:nvSpPr>
        <p:spPr>
          <a:xfrm>
            <a:off x="165102" y="25298400"/>
            <a:ext cx="34963100" cy="18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5760" tIns="182880" rIns="365760" bIns="182880" anchor="ctr"/>
          <a:lstStyle/>
          <a:p>
            <a:pPr algn="ctr">
              <a:defRPr/>
            </a:pPr>
            <a:r>
              <a:rPr lang="en-US" dirty="0"/>
              <a:t>v</a:t>
            </a:r>
          </a:p>
        </p:txBody>
      </p:sp>
      <p:sp>
        <p:nvSpPr>
          <p:cNvPr id="1029" name="Rectangle 3"/>
          <p:cNvSpPr>
            <a:spLocks noGrp="1" noChangeArrowheads="1"/>
          </p:cNvSpPr>
          <p:nvPr>
            <p:ph type="body" idx="1"/>
          </p:nvPr>
        </p:nvSpPr>
        <p:spPr bwMode="auto">
          <a:xfrm>
            <a:off x="1333502" y="4235454"/>
            <a:ext cx="33870900" cy="19742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65760" tIns="182880" rIns="365760" bIns="18288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5" name="Text Box 31"/>
          <p:cNvSpPr txBox="1">
            <a:spLocks noChangeArrowheads="1"/>
          </p:cNvSpPr>
          <p:nvPr userDrawn="1"/>
        </p:nvSpPr>
        <p:spPr bwMode="auto">
          <a:xfrm>
            <a:off x="165102" y="25475076"/>
            <a:ext cx="10134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5760" tIns="182880" rIns="365760" bIns="182880">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defRPr/>
            </a:pPr>
            <a:r>
              <a:rPr lang="en-US" altLang="en-US" sz="3200" dirty="0">
                <a:cs typeface="Arial" pitchFamily="34" charset="0"/>
              </a:rPr>
              <a:t>TI Confidential – NDA Restrictions</a:t>
            </a:r>
          </a:p>
        </p:txBody>
      </p:sp>
      <p:sp>
        <p:nvSpPr>
          <p:cNvPr id="1033" name="Rectangle 2"/>
          <p:cNvSpPr>
            <a:spLocks noGrp="1" noChangeArrowheads="1"/>
          </p:cNvSpPr>
          <p:nvPr>
            <p:ph type="title"/>
          </p:nvPr>
        </p:nvSpPr>
        <p:spPr bwMode="auto">
          <a:xfrm>
            <a:off x="927100" y="571500"/>
            <a:ext cx="33832800" cy="3257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65760" tIns="182880" rIns="365760" bIns="182880" numCol="1" anchor="ctr" anchorCtr="0" compatLnSpc="1">
            <a:prstTxWarp prst="textNoShape">
              <a:avLst/>
            </a:prstTxWarp>
          </a:bodyPr>
          <a:lstStyle/>
          <a:p>
            <a:pPr lvl="0"/>
            <a:r>
              <a:rPr lang="en-US" altLang="en-US"/>
              <a:t>Click to edit Master title style</a:t>
            </a:r>
          </a:p>
        </p:txBody>
      </p:sp>
      <p:grpSp>
        <p:nvGrpSpPr>
          <p:cNvPr id="21" name="Group 20">
            <a:extLst>
              <a:ext uri="{FF2B5EF4-FFF2-40B4-BE49-F238E27FC236}">
                <a16:creationId xmlns:a16="http://schemas.microsoft.com/office/drawing/2014/main" id="{632A6D34-C46D-4787-A26A-D4E14EA29997}"/>
              </a:ext>
            </a:extLst>
          </p:cNvPr>
          <p:cNvGrpSpPr/>
          <p:nvPr userDrawn="1"/>
        </p:nvGrpSpPr>
        <p:grpSpPr>
          <a:xfrm>
            <a:off x="0" y="25475076"/>
            <a:ext cx="35610800" cy="1270115"/>
            <a:chOff x="0" y="4656947"/>
            <a:chExt cx="8928896" cy="318463"/>
          </a:xfrm>
        </p:grpSpPr>
        <p:cxnSp>
          <p:nvCxnSpPr>
            <p:cNvPr id="22" name="Straight Connector 21">
              <a:extLst>
                <a:ext uri="{FF2B5EF4-FFF2-40B4-BE49-F238E27FC236}">
                  <a16:creationId xmlns:a16="http://schemas.microsoft.com/office/drawing/2014/main" id="{3CCD64DD-D98E-4FFC-9F56-2710D0D23E93}"/>
                </a:ext>
              </a:extLst>
            </p:cNvPr>
            <p:cNvCxnSpPr>
              <a:cxnSpLocks/>
            </p:cNvCxnSpPr>
            <p:nvPr userDrawn="1"/>
          </p:nvCxnSpPr>
          <p:spPr>
            <a:xfrm>
              <a:off x="0" y="4656947"/>
              <a:ext cx="892889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23" name="Picture 27" descr="ti_logo_powerpoint_1_line.png">
              <a:extLst>
                <a:ext uri="{FF2B5EF4-FFF2-40B4-BE49-F238E27FC236}">
                  <a16:creationId xmlns:a16="http://schemas.microsoft.com/office/drawing/2014/main" id="{37736700-144F-4956-9D10-631D4B220F0C}"/>
                </a:ext>
              </a:extLst>
            </p:cNvPr>
            <p:cNvPicPr>
              <a:picLocks noChangeAspect="1"/>
            </p:cNvPicPr>
            <p:nvPr userDrawn="1"/>
          </p:nvPicPr>
          <p:blipFill>
            <a:blip r:embed="rId5" cstate="print"/>
            <a:srcRect/>
            <a:stretch>
              <a:fillRect/>
            </a:stretch>
          </p:blipFill>
          <p:spPr bwMode="auto">
            <a:xfrm>
              <a:off x="7329362" y="4782264"/>
              <a:ext cx="1562364" cy="193146"/>
            </a:xfrm>
            <a:prstGeom prst="rect">
              <a:avLst/>
            </a:prstGeom>
            <a:noFill/>
            <a:ln w="9525">
              <a:noFill/>
              <a:miter lim="800000"/>
              <a:headEnd/>
              <a:tailEnd/>
            </a:ln>
          </p:spPr>
        </p:pic>
      </p:grpSp>
    </p:spTree>
  </p:cSld>
  <p:clrMap bg1="lt1" tx1="dk1" bg2="lt2" tx2="dk2" accent1="accent1" accent2="accent2" accent3="accent3" accent4="accent4" accent5="accent5" accent6="accent6" hlink="hlink" folHlink="folHlink"/>
  <p:sldLayoutIdLst>
    <p:sldLayoutId id="2147483856" r:id="rId1"/>
  </p:sldLayoutIdLst>
  <p:hf hdr="0" ftr="0" dt="0"/>
  <p:txStyles>
    <p:titleStyle>
      <a:lvl1pPr algn="l" rtl="0" eaLnBrk="0" fontAlgn="base" hangingPunct="0">
        <a:lnSpc>
          <a:spcPct val="85000"/>
        </a:lnSpc>
        <a:spcBef>
          <a:spcPct val="0"/>
        </a:spcBef>
        <a:spcAft>
          <a:spcPct val="0"/>
        </a:spcAft>
        <a:defRPr sz="12800" b="1">
          <a:solidFill>
            <a:schemeClr val="tx2"/>
          </a:solidFill>
          <a:latin typeface="+mj-lt"/>
          <a:ea typeface="MS PGothic" pitchFamily="34" charset="-128"/>
          <a:cs typeface="ＭＳ Ｐゴシック" charset="0"/>
        </a:defRPr>
      </a:lvl1pPr>
      <a:lvl2pPr algn="l" rtl="0" eaLnBrk="0" fontAlgn="base" hangingPunct="0">
        <a:lnSpc>
          <a:spcPct val="85000"/>
        </a:lnSpc>
        <a:spcBef>
          <a:spcPct val="0"/>
        </a:spcBef>
        <a:spcAft>
          <a:spcPct val="0"/>
        </a:spcAft>
        <a:defRPr sz="12800" b="1">
          <a:solidFill>
            <a:schemeClr val="tx2"/>
          </a:solidFill>
          <a:latin typeface="Arial" charset="0"/>
          <a:ea typeface="MS PGothic" pitchFamily="34" charset="-128"/>
          <a:cs typeface="ＭＳ Ｐゴシック" charset="0"/>
        </a:defRPr>
      </a:lvl2pPr>
      <a:lvl3pPr algn="l" rtl="0" eaLnBrk="0" fontAlgn="base" hangingPunct="0">
        <a:lnSpc>
          <a:spcPct val="85000"/>
        </a:lnSpc>
        <a:spcBef>
          <a:spcPct val="0"/>
        </a:spcBef>
        <a:spcAft>
          <a:spcPct val="0"/>
        </a:spcAft>
        <a:defRPr sz="12800" b="1">
          <a:solidFill>
            <a:schemeClr val="tx2"/>
          </a:solidFill>
          <a:latin typeface="Arial" charset="0"/>
          <a:ea typeface="MS PGothic" pitchFamily="34" charset="-128"/>
          <a:cs typeface="ＭＳ Ｐゴシック" charset="0"/>
        </a:defRPr>
      </a:lvl3pPr>
      <a:lvl4pPr algn="l" rtl="0" eaLnBrk="0" fontAlgn="base" hangingPunct="0">
        <a:lnSpc>
          <a:spcPct val="85000"/>
        </a:lnSpc>
        <a:spcBef>
          <a:spcPct val="0"/>
        </a:spcBef>
        <a:spcAft>
          <a:spcPct val="0"/>
        </a:spcAft>
        <a:defRPr sz="12800" b="1">
          <a:solidFill>
            <a:schemeClr val="tx2"/>
          </a:solidFill>
          <a:latin typeface="Arial" charset="0"/>
          <a:ea typeface="MS PGothic" pitchFamily="34" charset="-128"/>
          <a:cs typeface="ＭＳ Ｐゴシック" charset="0"/>
        </a:defRPr>
      </a:lvl4pPr>
      <a:lvl5pPr algn="l" rtl="0" eaLnBrk="0" fontAlgn="base" hangingPunct="0">
        <a:lnSpc>
          <a:spcPct val="85000"/>
        </a:lnSpc>
        <a:spcBef>
          <a:spcPct val="0"/>
        </a:spcBef>
        <a:spcAft>
          <a:spcPct val="0"/>
        </a:spcAft>
        <a:defRPr sz="12800" b="1">
          <a:solidFill>
            <a:schemeClr val="tx2"/>
          </a:solidFill>
          <a:latin typeface="Arial" charset="0"/>
          <a:ea typeface="MS PGothic" pitchFamily="34" charset="-128"/>
          <a:cs typeface="ＭＳ Ｐゴシック" charset="0"/>
        </a:defRPr>
      </a:lvl5pPr>
      <a:lvl6pPr marL="1828800" algn="l" rtl="0" fontAlgn="base">
        <a:lnSpc>
          <a:spcPct val="85000"/>
        </a:lnSpc>
        <a:spcBef>
          <a:spcPct val="0"/>
        </a:spcBef>
        <a:spcAft>
          <a:spcPct val="0"/>
        </a:spcAft>
        <a:defRPr sz="12800" b="1">
          <a:solidFill>
            <a:srgbClr val="FF0000"/>
          </a:solidFill>
          <a:latin typeface="Arial" charset="0"/>
        </a:defRPr>
      </a:lvl6pPr>
      <a:lvl7pPr marL="3657600" algn="l" rtl="0" fontAlgn="base">
        <a:lnSpc>
          <a:spcPct val="85000"/>
        </a:lnSpc>
        <a:spcBef>
          <a:spcPct val="0"/>
        </a:spcBef>
        <a:spcAft>
          <a:spcPct val="0"/>
        </a:spcAft>
        <a:defRPr sz="12800" b="1">
          <a:solidFill>
            <a:srgbClr val="FF0000"/>
          </a:solidFill>
          <a:latin typeface="Arial" charset="0"/>
        </a:defRPr>
      </a:lvl7pPr>
      <a:lvl8pPr marL="5486400" algn="l" rtl="0" fontAlgn="base">
        <a:lnSpc>
          <a:spcPct val="85000"/>
        </a:lnSpc>
        <a:spcBef>
          <a:spcPct val="0"/>
        </a:spcBef>
        <a:spcAft>
          <a:spcPct val="0"/>
        </a:spcAft>
        <a:defRPr sz="12800" b="1">
          <a:solidFill>
            <a:srgbClr val="FF0000"/>
          </a:solidFill>
          <a:latin typeface="Arial" charset="0"/>
        </a:defRPr>
      </a:lvl8pPr>
      <a:lvl9pPr marL="7315200" algn="l" rtl="0" fontAlgn="base">
        <a:lnSpc>
          <a:spcPct val="85000"/>
        </a:lnSpc>
        <a:spcBef>
          <a:spcPct val="0"/>
        </a:spcBef>
        <a:spcAft>
          <a:spcPct val="0"/>
        </a:spcAft>
        <a:defRPr sz="12800" b="1">
          <a:solidFill>
            <a:srgbClr val="FF0000"/>
          </a:solidFill>
          <a:latin typeface="Arial" charset="0"/>
        </a:defRPr>
      </a:lvl9pPr>
    </p:titleStyle>
    <p:bodyStyle>
      <a:lvl1pPr marL="908052" indent="-908052" algn="l" rtl="0" eaLnBrk="0" fontAlgn="base" hangingPunct="0">
        <a:spcBef>
          <a:spcPts val="3200"/>
        </a:spcBef>
        <a:spcAft>
          <a:spcPct val="0"/>
        </a:spcAft>
        <a:buChar char="•"/>
        <a:defRPr sz="8000">
          <a:solidFill>
            <a:schemeClr val="tx1"/>
          </a:solidFill>
          <a:latin typeface="+mn-lt"/>
          <a:ea typeface="MS PGothic" pitchFamily="34" charset="-128"/>
          <a:cs typeface="ＭＳ Ｐゴシック" charset="0"/>
        </a:defRPr>
      </a:lvl1pPr>
      <a:lvl2pPr marL="2298700" indent="-933452" algn="l" rtl="0" eaLnBrk="0" fontAlgn="base" hangingPunct="0">
        <a:spcBef>
          <a:spcPct val="20000"/>
        </a:spcBef>
        <a:spcAft>
          <a:spcPct val="0"/>
        </a:spcAft>
        <a:buChar char="–"/>
        <a:defRPr>
          <a:solidFill>
            <a:schemeClr val="tx1"/>
          </a:solidFill>
          <a:latin typeface="+mn-lt"/>
          <a:ea typeface="MS PGothic" pitchFamily="34" charset="-128"/>
        </a:defRPr>
      </a:lvl2pPr>
      <a:lvl3pPr marL="3416300" indent="-660400" algn="l" rtl="0" eaLnBrk="0" fontAlgn="base" hangingPunct="0">
        <a:spcBef>
          <a:spcPct val="15000"/>
        </a:spcBef>
        <a:spcAft>
          <a:spcPct val="0"/>
        </a:spcAft>
        <a:buChar char="•"/>
        <a:defRPr>
          <a:solidFill>
            <a:schemeClr val="tx1"/>
          </a:solidFill>
          <a:latin typeface="+mn-lt"/>
          <a:ea typeface="MS PGothic" pitchFamily="34" charset="-128"/>
        </a:defRPr>
      </a:lvl3pPr>
      <a:lvl4pPr marL="4806952" indent="-933452" algn="l" rtl="0" eaLnBrk="0" fontAlgn="base" hangingPunct="0">
        <a:spcBef>
          <a:spcPct val="5000"/>
        </a:spcBef>
        <a:spcAft>
          <a:spcPct val="0"/>
        </a:spcAft>
        <a:buChar char="–"/>
        <a:defRPr>
          <a:solidFill>
            <a:schemeClr val="tx1"/>
          </a:solidFill>
          <a:latin typeface="+mn-lt"/>
          <a:ea typeface="MS PGothic" pitchFamily="34" charset="-128"/>
        </a:defRPr>
      </a:lvl4pPr>
      <a:lvl5pPr marL="5956300" indent="-692152" algn="l" rtl="0" eaLnBrk="0" fontAlgn="base" hangingPunct="0">
        <a:spcBef>
          <a:spcPct val="0"/>
        </a:spcBef>
        <a:spcAft>
          <a:spcPct val="0"/>
        </a:spcAft>
        <a:buChar char="»"/>
        <a:defRPr>
          <a:solidFill>
            <a:schemeClr val="tx1"/>
          </a:solidFill>
          <a:latin typeface="+mn-lt"/>
          <a:ea typeface="MS PGothic" pitchFamily="34" charset="-128"/>
        </a:defRPr>
      </a:lvl5pPr>
      <a:lvl6pPr marL="7785100" indent="-692152" algn="l" rtl="0" fontAlgn="base">
        <a:spcBef>
          <a:spcPct val="0"/>
        </a:spcBef>
        <a:spcAft>
          <a:spcPct val="0"/>
        </a:spcAft>
        <a:buChar char="»"/>
        <a:defRPr sz="6400">
          <a:solidFill>
            <a:schemeClr val="tx1"/>
          </a:solidFill>
          <a:latin typeface="+mn-lt"/>
        </a:defRPr>
      </a:lvl6pPr>
      <a:lvl7pPr marL="9613900" indent="-692152" algn="l" rtl="0" fontAlgn="base">
        <a:spcBef>
          <a:spcPct val="0"/>
        </a:spcBef>
        <a:spcAft>
          <a:spcPct val="0"/>
        </a:spcAft>
        <a:buChar char="»"/>
        <a:defRPr sz="6400">
          <a:solidFill>
            <a:schemeClr val="tx1"/>
          </a:solidFill>
          <a:latin typeface="+mn-lt"/>
        </a:defRPr>
      </a:lvl7pPr>
      <a:lvl8pPr marL="11442700" indent="-692152" algn="l" rtl="0" fontAlgn="base">
        <a:spcBef>
          <a:spcPct val="0"/>
        </a:spcBef>
        <a:spcAft>
          <a:spcPct val="0"/>
        </a:spcAft>
        <a:buChar char="»"/>
        <a:defRPr sz="6400">
          <a:solidFill>
            <a:schemeClr val="tx1"/>
          </a:solidFill>
          <a:latin typeface="+mn-lt"/>
        </a:defRPr>
      </a:lvl8pPr>
      <a:lvl9pPr marL="13271500" indent="-692152" algn="l" rtl="0" fontAlgn="base">
        <a:spcBef>
          <a:spcPct val="0"/>
        </a:spcBef>
        <a:spcAft>
          <a:spcPct val="0"/>
        </a:spcAft>
        <a:buChar char="»"/>
        <a:defRPr sz="6400">
          <a:solidFill>
            <a:schemeClr val="tx1"/>
          </a:solidFill>
          <a:latin typeface="+mn-lt"/>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0779" y="609347"/>
            <a:ext cx="25332267" cy="3257552"/>
          </a:xfrm>
        </p:spPr>
        <p:txBody>
          <a:bodyPr/>
          <a:lstStyle/>
          <a:p>
            <a:r>
              <a:rPr lang="en-US" dirty="0"/>
              <a:t>Forecasting Revenue with LSTM: A GUI-Deployable ML tool for Sales and Applications</a:t>
            </a:r>
          </a:p>
        </p:txBody>
      </p:sp>
      <p:sp>
        <p:nvSpPr>
          <p:cNvPr id="7" name="Text Placeholder 7"/>
          <p:cNvSpPr txBox="1">
            <a:spLocks/>
          </p:cNvSpPr>
          <p:nvPr/>
        </p:nvSpPr>
        <p:spPr>
          <a:xfrm>
            <a:off x="475607" y="1024666"/>
            <a:ext cx="5334041" cy="2686048"/>
          </a:xfrm>
          <a:prstGeom prst="rect">
            <a:avLst/>
          </a:prstGeom>
        </p:spPr>
        <p:txBody>
          <a:bodyPr/>
          <a:lstStyle>
            <a:lvl1pPr marL="0" indent="0" algn="l" rtl="0" eaLnBrk="0" fontAlgn="base" hangingPunct="0">
              <a:spcBef>
                <a:spcPts val="3200"/>
              </a:spcBef>
              <a:spcAft>
                <a:spcPct val="0"/>
              </a:spcAft>
              <a:buNone/>
              <a:defRPr sz="3200" b="1">
                <a:solidFill>
                  <a:srgbClr val="FF0000"/>
                </a:solidFill>
                <a:latin typeface="+mj-lt"/>
                <a:ea typeface="MS PGothic" pitchFamily="34" charset="-128"/>
                <a:cs typeface="ＭＳ Ｐゴシック" charset="0"/>
              </a:defRPr>
            </a:lvl1pPr>
            <a:lvl2pPr marL="1365248" indent="0" algn="l" rtl="0" eaLnBrk="0" fontAlgn="base" hangingPunct="0">
              <a:spcBef>
                <a:spcPct val="20000"/>
              </a:spcBef>
              <a:spcAft>
                <a:spcPct val="0"/>
              </a:spcAft>
              <a:buNone/>
              <a:defRPr sz="2400">
                <a:solidFill>
                  <a:schemeClr val="tx1"/>
                </a:solidFill>
                <a:latin typeface="+mn-lt"/>
                <a:ea typeface="MS PGothic" pitchFamily="34" charset="-128"/>
              </a:defRPr>
            </a:lvl2pPr>
            <a:lvl3pPr marL="2755900" indent="0" algn="l" rtl="0" eaLnBrk="0" fontAlgn="base" hangingPunct="0">
              <a:spcBef>
                <a:spcPct val="15000"/>
              </a:spcBef>
              <a:spcAft>
                <a:spcPct val="0"/>
              </a:spcAft>
              <a:buNone/>
              <a:defRPr sz="2400">
                <a:solidFill>
                  <a:schemeClr val="tx1"/>
                </a:solidFill>
                <a:latin typeface="+mn-lt"/>
                <a:ea typeface="MS PGothic" pitchFamily="34" charset="-128"/>
              </a:defRPr>
            </a:lvl3pPr>
            <a:lvl4pPr marL="3873500" indent="0" algn="l" rtl="0" eaLnBrk="0" fontAlgn="base" hangingPunct="0">
              <a:spcBef>
                <a:spcPct val="5000"/>
              </a:spcBef>
              <a:spcAft>
                <a:spcPct val="0"/>
              </a:spcAft>
              <a:buNone/>
              <a:defRPr sz="2400">
                <a:solidFill>
                  <a:schemeClr val="tx1"/>
                </a:solidFill>
                <a:latin typeface="+mn-lt"/>
                <a:ea typeface="MS PGothic" pitchFamily="34" charset="-128"/>
              </a:defRPr>
            </a:lvl4pPr>
            <a:lvl5pPr marL="5264148" indent="0" algn="l" rtl="0" eaLnBrk="0" fontAlgn="base" hangingPunct="0">
              <a:spcBef>
                <a:spcPct val="0"/>
              </a:spcBef>
              <a:spcAft>
                <a:spcPct val="0"/>
              </a:spcAft>
              <a:buNone/>
              <a:defRPr sz="2400">
                <a:solidFill>
                  <a:schemeClr val="tx1"/>
                </a:solidFill>
                <a:latin typeface="+mn-lt"/>
                <a:ea typeface="MS PGothic" pitchFamily="34" charset="-128"/>
              </a:defRPr>
            </a:lvl5pPr>
            <a:lvl6pPr marL="7785100" indent="-692152" algn="l" rtl="0" fontAlgn="base">
              <a:spcBef>
                <a:spcPct val="0"/>
              </a:spcBef>
              <a:spcAft>
                <a:spcPct val="0"/>
              </a:spcAft>
              <a:buChar char="»"/>
              <a:defRPr sz="6400">
                <a:solidFill>
                  <a:schemeClr val="tx1"/>
                </a:solidFill>
                <a:latin typeface="+mn-lt"/>
              </a:defRPr>
            </a:lvl6pPr>
            <a:lvl7pPr marL="9613900" indent="-692152" algn="l" rtl="0" fontAlgn="base">
              <a:spcBef>
                <a:spcPct val="0"/>
              </a:spcBef>
              <a:spcAft>
                <a:spcPct val="0"/>
              </a:spcAft>
              <a:buChar char="»"/>
              <a:defRPr sz="6400">
                <a:solidFill>
                  <a:schemeClr val="tx1"/>
                </a:solidFill>
                <a:latin typeface="+mn-lt"/>
              </a:defRPr>
            </a:lvl7pPr>
            <a:lvl8pPr marL="11442700" indent="-692152" algn="l" rtl="0" fontAlgn="base">
              <a:spcBef>
                <a:spcPct val="0"/>
              </a:spcBef>
              <a:spcAft>
                <a:spcPct val="0"/>
              </a:spcAft>
              <a:buChar char="»"/>
              <a:defRPr sz="6400">
                <a:solidFill>
                  <a:schemeClr val="tx1"/>
                </a:solidFill>
                <a:latin typeface="+mn-lt"/>
              </a:defRPr>
            </a:lvl8pPr>
            <a:lvl9pPr marL="13271500" indent="-692152" algn="l" rtl="0" fontAlgn="base">
              <a:spcBef>
                <a:spcPct val="0"/>
              </a:spcBef>
              <a:spcAft>
                <a:spcPct val="0"/>
              </a:spcAft>
              <a:buChar char="»"/>
              <a:defRPr sz="6400">
                <a:solidFill>
                  <a:schemeClr val="tx1"/>
                </a:solidFill>
                <a:latin typeface="+mn-lt"/>
              </a:defRPr>
            </a:lvl9pPr>
          </a:lstStyle>
          <a:p>
            <a:pPr>
              <a:lnSpc>
                <a:spcPct val="200000"/>
              </a:lnSpc>
            </a:pPr>
            <a:r>
              <a:rPr lang="en-US" kern="0" dirty="0"/>
              <a:t>Varsha Venkatapathy and Harini </a:t>
            </a:r>
            <a:r>
              <a:rPr lang="en-US" kern="0" dirty="0" err="1"/>
              <a:t>Gurusankar</a:t>
            </a:r>
            <a:endParaRPr lang="en-US" kern="0" dirty="0"/>
          </a:p>
        </p:txBody>
      </p:sp>
      <p:cxnSp>
        <p:nvCxnSpPr>
          <p:cNvPr id="112" name="Straight Connector 111"/>
          <p:cNvCxnSpPr/>
          <p:nvPr/>
        </p:nvCxnSpPr>
        <p:spPr>
          <a:xfrm>
            <a:off x="12582144" y="3581401"/>
            <a:ext cx="0" cy="2169261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24798527" y="3581400"/>
            <a:ext cx="0" cy="2169261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lowchart: Process 2">
            <a:extLst>
              <a:ext uri="{FF2B5EF4-FFF2-40B4-BE49-F238E27FC236}">
                <a16:creationId xmlns:a16="http://schemas.microsoft.com/office/drawing/2014/main" id="{9AFD3BB5-7810-46AD-993C-2248D4FA468A}"/>
              </a:ext>
            </a:extLst>
          </p:cNvPr>
          <p:cNvSpPr/>
          <p:nvPr/>
        </p:nvSpPr>
        <p:spPr>
          <a:xfrm>
            <a:off x="199099" y="3743737"/>
            <a:ext cx="12276359" cy="505895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91A0BA9-EBFB-4F58-8F54-EDBADA84F310}"/>
              </a:ext>
            </a:extLst>
          </p:cNvPr>
          <p:cNvSpPr txBox="1"/>
          <p:nvPr/>
        </p:nvSpPr>
        <p:spPr>
          <a:xfrm>
            <a:off x="3090397" y="3767874"/>
            <a:ext cx="6335485" cy="523220"/>
          </a:xfrm>
          <a:prstGeom prst="rect">
            <a:avLst/>
          </a:prstGeom>
          <a:solidFill>
            <a:schemeClr val="bg1"/>
          </a:solid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Background</a:t>
            </a:r>
          </a:p>
        </p:txBody>
      </p:sp>
      <p:sp>
        <p:nvSpPr>
          <p:cNvPr id="5" name="TextBox 4">
            <a:extLst>
              <a:ext uri="{FF2B5EF4-FFF2-40B4-BE49-F238E27FC236}">
                <a16:creationId xmlns:a16="http://schemas.microsoft.com/office/drawing/2014/main" id="{8804C9FC-2492-4EF4-B8DE-63F1BCE73917}"/>
              </a:ext>
            </a:extLst>
          </p:cNvPr>
          <p:cNvSpPr txBox="1"/>
          <p:nvPr/>
        </p:nvSpPr>
        <p:spPr>
          <a:xfrm>
            <a:off x="439948" y="4159467"/>
            <a:ext cx="11878583" cy="4708981"/>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the Texas Instruments Sales Org, Annual Plan and Long-Term Revenue for each account has to be calculated every quarter by the Technical Sales Engineer and the Field Applications Engineer</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One of the sales tools to predict this revenue currently is using the Step 6 Dashboard. This outputs an excel file with the past transaction history of an account for the past 5 years, split by quarter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Forecasting future revenue can pose many difficulties to the current sales/apps org due to:</a:t>
            </a:r>
          </a:p>
          <a:p>
            <a:pPr marL="21145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Rapidly Evolving Design wins</a:t>
            </a:r>
          </a:p>
          <a:p>
            <a:pPr marL="21145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Variable Customer Volume forecasts for the coming Years</a:t>
            </a:r>
          </a:p>
          <a:p>
            <a:pPr marL="21145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Diverse Product Mix Across Market Sectors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Current TSRs/FAE often have to do extensive market research in each account to predict the future revenue for metrics like volume, supply, and demand</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analysis of long term revenue is done with Microsoft Excel. Excel often struggles with:</a:t>
            </a:r>
          </a:p>
          <a:p>
            <a:pPr marL="21145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Time-Based dependencies</a:t>
            </a:r>
          </a:p>
          <a:p>
            <a:pPr marL="21145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Non-Linear Patterns and Trends</a:t>
            </a:r>
          </a:p>
          <a:p>
            <a:pPr marL="21145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Manual Adjustments and Assumptions</a:t>
            </a:r>
          </a:p>
          <a:p>
            <a:endParaRPr lang="en-US" sz="2000" dirty="0">
              <a:latin typeface="Times New Roman" panose="02020603050405020304" pitchFamily="18" charset="0"/>
              <a:cs typeface="Times New Roman" panose="02020603050405020304" pitchFamily="18" charset="0"/>
            </a:endParaRPr>
          </a:p>
        </p:txBody>
      </p:sp>
      <p:sp>
        <p:nvSpPr>
          <p:cNvPr id="9" name="Flowchart: Process 8">
            <a:extLst>
              <a:ext uri="{FF2B5EF4-FFF2-40B4-BE49-F238E27FC236}">
                <a16:creationId xmlns:a16="http://schemas.microsoft.com/office/drawing/2014/main" id="{ABC03BD7-AAAD-4DD2-B085-3BF3CA6012BF}"/>
              </a:ext>
            </a:extLst>
          </p:cNvPr>
          <p:cNvSpPr/>
          <p:nvPr/>
        </p:nvSpPr>
        <p:spPr>
          <a:xfrm>
            <a:off x="215018" y="8917011"/>
            <a:ext cx="12291141" cy="2989670"/>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1" name="Flowchart: Process 30">
            <a:extLst>
              <a:ext uri="{FF2B5EF4-FFF2-40B4-BE49-F238E27FC236}">
                <a16:creationId xmlns:a16="http://schemas.microsoft.com/office/drawing/2014/main" id="{3193352B-13E1-4C22-B0BA-B046060FDBE9}"/>
              </a:ext>
            </a:extLst>
          </p:cNvPr>
          <p:cNvSpPr/>
          <p:nvPr/>
        </p:nvSpPr>
        <p:spPr>
          <a:xfrm>
            <a:off x="291670" y="11964049"/>
            <a:ext cx="12274837" cy="3561271"/>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FEA3744-068D-4980-B1A8-451CE82C2A41}"/>
              </a:ext>
            </a:extLst>
          </p:cNvPr>
          <p:cNvSpPr txBox="1"/>
          <p:nvPr/>
        </p:nvSpPr>
        <p:spPr>
          <a:xfrm>
            <a:off x="572520" y="8998254"/>
            <a:ext cx="10813307"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Objective </a:t>
            </a:r>
          </a:p>
        </p:txBody>
      </p:sp>
      <p:sp>
        <p:nvSpPr>
          <p:cNvPr id="14" name="TextBox 13">
            <a:extLst>
              <a:ext uri="{FF2B5EF4-FFF2-40B4-BE49-F238E27FC236}">
                <a16:creationId xmlns:a16="http://schemas.microsoft.com/office/drawing/2014/main" id="{611694DE-3296-4B95-B152-7B04AE49154A}"/>
              </a:ext>
            </a:extLst>
          </p:cNvPr>
          <p:cNvSpPr txBox="1"/>
          <p:nvPr/>
        </p:nvSpPr>
        <p:spPr>
          <a:xfrm>
            <a:off x="452115" y="9430540"/>
            <a:ext cx="11403421" cy="224676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Develop and deploy a machine learning based forecasting tool using Long Short-Term Memory (LSTM) network that improves the accuracy of revenue predictions for Texas Instruments’ Annual Plan (AP) and Long Range Planning (LRP). The tool aims to:</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Handle non-linear trends and time based dependencies in revenue data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Adapt to rapidly changing design wins, customer volume variability, and sector-specific product mixes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Replace static Excel-based forecasts with a dynamic, scalable and user-friendly solution integrated via a GUI</a:t>
            </a:r>
          </a:p>
        </p:txBody>
      </p:sp>
      <p:sp>
        <p:nvSpPr>
          <p:cNvPr id="16" name="TextBox 15">
            <a:extLst>
              <a:ext uri="{FF2B5EF4-FFF2-40B4-BE49-F238E27FC236}">
                <a16:creationId xmlns:a16="http://schemas.microsoft.com/office/drawing/2014/main" id="{6222540B-FBD9-4766-AB48-B74C72CB4D15}"/>
              </a:ext>
            </a:extLst>
          </p:cNvPr>
          <p:cNvSpPr txBox="1"/>
          <p:nvPr/>
        </p:nvSpPr>
        <p:spPr>
          <a:xfrm>
            <a:off x="691619" y="17342801"/>
            <a:ext cx="11285228" cy="369332"/>
          </a:xfrm>
          <a:prstGeom prst="rect">
            <a:avLst/>
          </a:prstGeom>
          <a:noFill/>
        </p:spPr>
        <p:txBody>
          <a:bodyPr wrap="square" rtlCol="0">
            <a:spAutoFit/>
          </a:bodyPr>
          <a:lstStyle/>
          <a:p>
            <a:pPr algn="ctr"/>
            <a:endParaRPr lang="en-US"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5C888F9C-2E43-422E-9CC1-A3C47F5C1143}"/>
              </a:ext>
            </a:extLst>
          </p:cNvPr>
          <p:cNvSpPr txBox="1"/>
          <p:nvPr/>
        </p:nvSpPr>
        <p:spPr>
          <a:xfrm>
            <a:off x="-98773" y="12005501"/>
            <a:ext cx="1161116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Preprocessing</a:t>
            </a:r>
          </a:p>
        </p:txBody>
      </p:sp>
      <p:sp>
        <p:nvSpPr>
          <p:cNvPr id="18" name="TextBox 17">
            <a:extLst>
              <a:ext uri="{FF2B5EF4-FFF2-40B4-BE49-F238E27FC236}">
                <a16:creationId xmlns:a16="http://schemas.microsoft.com/office/drawing/2014/main" id="{B26231D1-4033-412F-9CFD-604E0D5BB7D1}"/>
              </a:ext>
            </a:extLst>
          </p:cNvPr>
          <p:cNvSpPr txBox="1"/>
          <p:nvPr/>
        </p:nvSpPr>
        <p:spPr>
          <a:xfrm>
            <a:off x="406320" y="12480789"/>
            <a:ext cx="11855825" cy="1015663"/>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Data Cleaning</a:t>
            </a:r>
            <a:r>
              <a:rPr lang="en-US" sz="2000" dirty="0">
                <a:latin typeface="Times New Roman" panose="02020603050405020304" pitchFamily="18" charset="0"/>
                <a:cs typeface="Times New Roman" panose="02020603050405020304" pitchFamily="18" charset="0"/>
              </a:rPr>
              <a:t>: Acquired Dataset of an Account. Discarded empty/void rows in Microsoft Excel and converted to CSV.  Extracted the Product family most frequently bought by the customer and the corresponding quarterly revenue from 2020 to current</a:t>
            </a:r>
          </a:p>
        </p:txBody>
      </p:sp>
      <p:pic>
        <p:nvPicPr>
          <p:cNvPr id="22" name="Picture 21">
            <a:extLst>
              <a:ext uri="{FF2B5EF4-FFF2-40B4-BE49-F238E27FC236}">
                <a16:creationId xmlns:a16="http://schemas.microsoft.com/office/drawing/2014/main" id="{C4604EF7-E48C-47BC-9C8B-9CF5BE9379DA}"/>
              </a:ext>
            </a:extLst>
          </p:cNvPr>
          <p:cNvPicPr>
            <a:picLocks noChangeAspect="1"/>
          </p:cNvPicPr>
          <p:nvPr/>
        </p:nvPicPr>
        <p:blipFill rotWithShape="1">
          <a:blip r:embed="rId3"/>
          <a:srcRect r="-5345" b="39695"/>
          <a:stretch/>
        </p:blipFill>
        <p:spPr>
          <a:xfrm>
            <a:off x="475607" y="13380846"/>
            <a:ext cx="1156801" cy="1891317"/>
          </a:xfrm>
          <a:prstGeom prst="rect">
            <a:avLst/>
          </a:prstGeom>
        </p:spPr>
      </p:pic>
      <p:sp>
        <p:nvSpPr>
          <p:cNvPr id="25" name="TextBox 24">
            <a:extLst>
              <a:ext uri="{FF2B5EF4-FFF2-40B4-BE49-F238E27FC236}">
                <a16:creationId xmlns:a16="http://schemas.microsoft.com/office/drawing/2014/main" id="{A6757770-E34E-474F-AB60-9A3950F2443A}"/>
              </a:ext>
            </a:extLst>
          </p:cNvPr>
          <p:cNvSpPr txBox="1"/>
          <p:nvPr/>
        </p:nvSpPr>
        <p:spPr>
          <a:xfrm>
            <a:off x="7819697" y="13553821"/>
            <a:ext cx="3625080" cy="132343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Corresponding Revenue (y) </a:t>
            </a:r>
            <a:r>
              <a:rPr lang="en-US" sz="2000" dirty="0">
                <a:latin typeface="Times New Roman" panose="02020603050405020304" pitchFamily="18" charset="0"/>
                <a:cs typeface="Times New Roman" panose="02020603050405020304" pitchFamily="18" charset="0"/>
              </a:rPr>
              <a:t>by Quarter ($) listed as 2020 Q1-2025 Q3 going up by quarterly increments </a:t>
            </a:r>
          </a:p>
        </p:txBody>
      </p:sp>
      <p:sp>
        <p:nvSpPr>
          <p:cNvPr id="26" name="TextBox 25">
            <a:extLst>
              <a:ext uri="{FF2B5EF4-FFF2-40B4-BE49-F238E27FC236}">
                <a16:creationId xmlns:a16="http://schemas.microsoft.com/office/drawing/2014/main" id="{7BB38A32-C47E-40C8-8429-785F897D25FC}"/>
              </a:ext>
            </a:extLst>
          </p:cNvPr>
          <p:cNvSpPr txBox="1"/>
          <p:nvPr/>
        </p:nvSpPr>
        <p:spPr>
          <a:xfrm>
            <a:off x="3034829" y="13781762"/>
            <a:ext cx="3625080"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Classification (x)-</a:t>
            </a:r>
            <a:r>
              <a:rPr lang="en-US" sz="2000" dirty="0">
                <a:latin typeface="Times New Roman" panose="02020603050405020304" pitchFamily="18" charset="0"/>
                <a:cs typeface="Times New Roman" panose="02020603050405020304" pitchFamily="18" charset="0"/>
              </a:rPr>
              <a:t>SBE-1 (Product Family)</a:t>
            </a:r>
          </a:p>
        </p:txBody>
      </p:sp>
      <p:sp>
        <p:nvSpPr>
          <p:cNvPr id="40" name="Arrow: Right 39">
            <a:extLst>
              <a:ext uri="{FF2B5EF4-FFF2-40B4-BE49-F238E27FC236}">
                <a16:creationId xmlns:a16="http://schemas.microsoft.com/office/drawing/2014/main" id="{566EEED4-55E3-4E37-A79B-87A650059D44}"/>
              </a:ext>
            </a:extLst>
          </p:cNvPr>
          <p:cNvSpPr/>
          <p:nvPr/>
        </p:nvSpPr>
        <p:spPr>
          <a:xfrm>
            <a:off x="6230843" y="13898541"/>
            <a:ext cx="1118750" cy="3832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CB356F9D-13CC-4065-AA6B-01B67EC362DF}"/>
              </a:ext>
            </a:extLst>
          </p:cNvPr>
          <p:cNvSpPr txBox="1"/>
          <p:nvPr/>
        </p:nvSpPr>
        <p:spPr>
          <a:xfrm>
            <a:off x="291670" y="19913213"/>
            <a:ext cx="12240184" cy="4722037"/>
          </a:xfrm>
          <a:prstGeom prst="rect">
            <a:avLst/>
          </a:prstGeom>
          <a:solidFill>
            <a:schemeClr val="bg1"/>
          </a:solidFill>
          <a:ln>
            <a:noFill/>
          </a:ln>
        </p:spPr>
        <p:txBody>
          <a:bodyPr wrap="square" rtlCol="0">
            <a:spAutoFit/>
          </a:bodyPr>
          <a:lstStyle/>
          <a:p>
            <a:endParaRPr lang="en-US" dirty="0"/>
          </a:p>
        </p:txBody>
      </p:sp>
      <p:sp>
        <p:nvSpPr>
          <p:cNvPr id="46" name="AutoShape 2" descr="image.png">
            <a:extLst>
              <a:ext uri="{FF2B5EF4-FFF2-40B4-BE49-F238E27FC236}">
                <a16:creationId xmlns:a16="http://schemas.microsoft.com/office/drawing/2014/main" id="{B53D9060-C22D-4B78-AB7D-8D44F8AB659B}"/>
              </a:ext>
            </a:extLst>
          </p:cNvPr>
          <p:cNvSpPr>
            <a:spLocks noChangeAspect="1" noChangeArrowheads="1"/>
          </p:cNvSpPr>
          <p:nvPr/>
        </p:nvSpPr>
        <p:spPr bwMode="auto">
          <a:xfrm>
            <a:off x="18134628" y="13563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TextBox 62">
            <a:extLst>
              <a:ext uri="{FF2B5EF4-FFF2-40B4-BE49-F238E27FC236}">
                <a16:creationId xmlns:a16="http://schemas.microsoft.com/office/drawing/2014/main" id="{A477EDC2-BE51-45FD-92F7-97E602443439}"/>
              </a:ext>
            </a:extLst>
          </p:cNvPr>
          <p:cNvSpPr txBox="1"/>
          <p:nvPr/>
        </p:nvSpPr>
        <p:spPr>
          <a:xfrm>
            <a:off x="215019" y="15567090"/>
            <a:ext cx="12291140" cy="5516818"/>
          </a:xfrm>
          <a:prstGeom prst="rect">
            <a:avLst/>
          </a:prstGeom>
          <a:solidFill>
            <a:schemeClr val="bg1"/>
          </a:solidFill>
          <a:ln>
            <a:noFill/>
          </a:ln>
        </p:spPr>
        <p:txBody>
          <a:bodyPr wrap="square" rtlCol="0">
            <a:spAutoFit/>
          </a:bodyPr>
          <a:lstStyle/>
          <a:p>
            <a:endParaRPr lang="en-US" dirty="0"/>
          </a:p>
        </p:txBody>
      </p:sp>
      <p:sp>
        <p:nvSpPr>
          <p:cNvPr id="60" name="Arrow: Right 59">
            <a:extLst>
              <a:ext uri="{FF2B5EF4-FFF2-40B4-BE49-F238E27FC236}">
                <a16:creationId xmlns:a16="http://schemas.microsoft.com/office/drawing/2014/main" id="{5ACADA6C-1503-41CD-825C-EEBC30A2479F}"/>
              </a:ext>
            </a:extLst>
          </p:cNvPr>
          <p:cNvSpPr/>
          <p:nvPr/>
        </p:nvSpPr>
        <p:spPr>
          <a:xfrm>
            <a:off x="1688227" y="13952625"/>
            <a:ext cx="1118750" cy="3832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Picture 65">
            <a:extLst>
              <a:ext uri="{FF2B5EF4-FFF2-40B4-BE49-F238E27FC236}">
                <a16:creationId xmlns:a16="http://schemas.microsoft.com/office/drawing/2014/main" id="{CB60F852-6366-417F-9DDB-B1C1942FE67D}"/>
              </a:ext>
            </a:extLst>
          </p:cNvPr>
          <p:cNvPicPr>
            <a:picLocks noChangeAspect="1"/>
          </p:cNvPicPr>
          <p:nvPr/>
        </p:nvPicPr>
        <p:blipFill>
          <a:blip r:embed="rId4"/>
          <a:stretch>
            <a:fillRect/>
          </a:stretch>
        </p:blipFill>
        <p:spPr>
          <a:xfrm>
            <a:off x="268722" y="15071261"/>
            <a:ext cx="7769734" cy="5131502"/>
          </a:xfrm>
          <a:prstGeom prst="rect">
            <a:avLst/>
          </a:prstGeom>
        </p:spPr>
      </p:pic>
      <p:sp>
        <p:nvSpPr>
          <p:cNvPr id="67" name="TextBox 66">
            <a:extLst>
              <a:ext uri="{FF2B5EF4-FFF2-40B4-BE49-F238E27FC236}">
                <a16:creationId xmlns:a16="http://schemas.microsoft.com/office/drawing/2014/main" id="{8AB3D6DB-3C01-46C4-853A-F666B767700E}"/>
              </a:ext>
            </a:extLst>
          </p:cNvPr>
          <p:cNvSpPr txBox="1"/>
          <p:nvPr/>
        </p:nvSpPr>
        <p:spPr>
          <a:xfrm>
            <a:off x="8134440" y="15807062"/>
            <a:ext cx="3800026" cy="341632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Before Normalization: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Raw revenue distributions vary widely across quarters, leading to skewed scales.</a:t>
            </a:r>
          </a:p>
          <a:p>
            <a:r>
              <a:rPr lang="en-US" sz="2400" b="1" dirty="0">
                <a:latin typeface="Times New Roman" panose="02020603050405020304" pitchFamily="18" charset="0"/>
                <a:cs typeface="Times New Roman" panose="02020603050405020304" pitchFamily="18" charset="0"/>
              </a:rPr>
              <a:t>After Normalization: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All revenue values are scaled to [0, 1], ensuring consistent feature magnitudes and stable LSTM training.</a:t>
            </a:r>
          </a:p>
        </p:txBody>
      </p:sp>
      <p:sp>
        <p:nvSpPr>
          <p:cNvPr id="59" name="TextBox 58">
            <a:extLst>
              <a:ext uri="{FF2B5EF4-FFF2-40B4-BE49-F238E27FC236}">
                <a16:creationId xmlns:a16="http://schemas.microsoft.com/office/drawing/2014/main" id="{E8F693FA-3D1D-49C5-AB70-7E09D2AFB670}"/>
              </a:ext>
            </a:extLst>
          </p:cNvPr>
          <p:cNvSpPr txBox="1"/>
          <p:nvPr/>
        </p:nvSpPr>
        <p:spPr>
          <a:xfrm>
            <a:off x="12818407" y="3707240"/>
            <a:ext cx="11633347" cy="4877771"/>
          </a:xfrm>
          <a:prstGeom prst="rect">
            <a:avLst/>
          </a:prstGeom>
          <a:solidFill>
            <a:schemeClr val="bg1"/>
          </a:solidFill>
          <a:ln>
            <a:solidFill>
              <a:schemeClr val="accent1"/>
            </a:solidFill>
          </a:ln>
        </p:spPr>
        <p:txBody>
          <a:bodyPr wrap="square" rtlCol="0">
            <a:spAutoFit/>
          </a:bodyPr>
          <a:lstStyle/>
          <a:p>
            <a:endParaRPr lang="en-US" dirty="0"/>
          </a:p>
        </p:txBody>
      </p:sp>
      <p:pic>
        <p:nvPicPr>
          <p:cNvPr id="72" name="Picture 71">
            <a:extLst>
              <a:ext uri="{FF2B5EF4-FFF2-40B4-BE49-F238E27FC236}">
                <a16:creationId xmlns:a16="http://schemas.microsoft.com/office/drawing/2014/main" id="{4A318AB3-D260-438C-8744-3E5CFDD7CA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966907" y="4113396"/>
            <a:ext cx="5610094" cy="4471615"/>
          </a:xfrm>
          <a:prstGeom prst="rect">
            <a:avLst/>
          </a:prstGeom>
        </p:spPr>
      </p:pic>
      <p:sp>
        <p:nvSpPr>
          <p:cNvPr id="73" name="Arrow: Left 72">
            <a:extLst>
              <a:ext uri="{FF2B5EF4-FFF2-40B4-BE49-F238E27FC236}">
                <a16:creationId xmlns:a16="http://schemas.microsoft.com/office/drawing/2014/main" id="{C08F889F-3B17-4E99-A396-3E0DCE239E85}"/>
              </a:ext>
            </a:extLst>
          </p:cNvPr>
          <p:cNvSpPr/>
          <p:nvPr/>
        </p:nvSpPr>
        <p:spPr>
          <a:xfrm>
            <a:off x="18195078" y="6441572"/>
            <a:ext cx="1342266" cy="52322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C3D9DF59-1F2A-4AC0-8D55-D429006DBE40}"/>
              </a:ext>
            </a:extLst>
          </p:cNvPr>
          <p:cNvSpPr txBox="1"/>
          <p:nvPr/>
        </p:nvSpPr>
        <p:spPr>
          <a:xfrm>
            <a:off x="20028793" y="3904346"/>
            <a:ext cx="3422194" cy="4493538"/>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For each of the past 16 Quarters, normalized revenue is merged with the corresponding SBE-1 product family, however each unique SBE-1 product family is labeled by an integer</a:t>
            </a:r>
          </a:p>
          <a:p>
            <a:pPr marL="342900" indent="-3429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combined features allows model to learn both temporal categorical patterns simultaneously</a:t>
            </a:r>
          </a:p>
        </p:txBody>
      </p:sp>
      <p:sp>
        <p:nvSpPr>
          <p:cNvPr id="75" name="Flowchart: Process 74">
            <a:extLst>
              <a:ext uri="{FF2B5EF4-FFF2-40B4-BE49-F238E27FC236}">
                <a16:creationId xmlns:a16="http://schemas.microsoft.com/office/drawing/2014/main" id="{B8D659C3-1683-4984-94DC-737445E223A3}"/>
              </a:ext>
            </a:extLst>
          </p:cNvPr>
          <p:cNvSpPr/>
          <p:nvPr/>
        </p:nvSpPr>
        <p:spPr>
          <a:xfrm>
            <a:off x="12788248" y="8696692"/>
            <a:ext cx="11737666" cy="5863822"/>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09FA3F7D-E989-4DB9-BE89-ED16A1BA4F1D}"/>
              </a:ext>
            </a:extLst>
          </p:cNvPr>
          <p:cNvPicPr>
            <a:picLocks noChangeAspect="1"/>
          </p:cNvPicPr>
          <p:nvPr/>
        </p:nvPicPr>
        <p:blipFill>
          <a:blip r:embed="rId6"/>
          <a:stretch>
            <a:fillRect/>
          </a:stretch>
        </p:blipFill>
        <p:spPr>
          <a:xfrm>
            <a:off x="12831683" y="8862158"/>
            <a:ext cx="7586872" cy="5158642"/>
          </a:xfrm>
          <a:prstGeom prst="rect">
            <a:avLst/>
          </a:prstGeom>
        </p:spPr>
      </p:pic>
      <p:sp>
        <p:nvSpPr>
          <p:cNvPr id="78" name="TextBox 77">
            <a:extLst>
              <a:ext uri="{FF2B5EF4-FFF2-40B4-BE49-F238E27FC236}">
                <a16:creationId xmlns:a16="http://schemas.microsoft.com/office/drawing/2014/main" id="{DD601EEE-5C3D-4503-BF60-4E96DC8A8DD1}"/>
              </a:ext>
            </a:extLst>
          </p:cNvPr>
          <p:cNvSpPr txBox="1"/>
          <p:nvPr/>
        </p:nvSpPr>
        <p:spPr>
          <a:xfrm>
            <a:off x="20214656" y="9125423"/>
            <a:ext cx="3164719" cy="452431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row in X tensor is the sequence of the past 16 quarters, containing 2 values per step: normalized revenue &amp; labeled-encoded SBE-1 product family.. </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Y tensor holds the next 3 quarters revenue</a:t>
            </a:r>
          </a:p>
        </p:txBody>
      </p:sp>
      <p:sp>
        <p:nvSpPr>
          <p:cNvPr id="79" name="Flowchart: Process 78">
            <a:extLst>
              <a:ext uri="{FF2B5EF4-FFF2-40B4-BE49-F238E27FC236}">
                <a16:creationId xmlns:a16="http://schemas.microsoft.com/office/drawing/2014/main" id="{A1B1B624-851A-4FC4-BB79-AB556CCB4901}"/>
              </a:ext>
            </a:extLst>
          </p:cNvPr>
          <p:cNvSpPr/>
          <p:nvPr/>
        </p:nvSpPr>
        <p:spPr>
          <a:xfrm>
            <a:off x="12719879" y="14877260"/>
            <a:ext cx="11806027" cy="10382476"/>
          </a:xfrm>
          <a:prstGeom prst="flowChartProcess">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AutoShape 10" descr="image.png">
            <a:extLst>
              <a:ext uri="{FF2B5EF4-FFF2-40B4-BE49-F238E27FC236}">
                <a16:creationId xmlns:a16="http://schemas.microsoft.com/office/drawing/2014/main" id="{3BC801F2-D9D7-48E1-B846-D499D717CC21}"/>
              </a:ext>
            </a:extLst>
          </p:cNvPr>
          <p:cNvSpPr>
            <a:spLocks noChangeAspect="1" noChangeArrowheads="1"/>
          </p:cNvSpPr>
          <p:nvPr/>
        </p:nvSpPr>
        <p:spPr bwMode="auto">
          <a:xfrm>
            <a:off x="18288000" y="13716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AutoShape 12" descr="image.png">
            <a:extLst>
              <a:ext uri="{FF2B5EF4-FFF2-40B4-BE49-F238E27FC236}">
                <a16:creationId xmlns:a16="http://schemas.microsoft.com/office/drawing/2014/main" id="{84A6AB6C-64F6-47BF-98F5-5B1019738B3B}"/>
              </a:ext>
            </a:extLst>
          </p:cNvPr>
          <p:cNvSpPr>
            <a:spLocks noChangeAspect="1" noChangeArrowheads="1"/>
          </p:cNvSpPr>
          <p:nvPr/>
        </p:nvSpPr>
        <p:spPr bwMode="auto">
          <a:xfrm>
            <a:off x="18191636" y="1354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6" name="Picture 85">
            <a:extLst>
              <a:ext uri="{FF2B5EF4-FFF2-40B4-BE49-F238E27FC236}">
                <a16:creationId xmlns:a16="http://schemas.microsoft.com/office/drawing/2014/main" id="{B971849E-1F56-405A-8B6A-1C5221EAF333}"/>
              </a:ext>
            </a:extLst>
          </p:cNvPr>
          <p:cNvPicPr>
            <a:picLocks noChangeAspect="1"/>
          </p:cNvPicPr>
          <p:nvPr/>
        </p:nvPicPr>
        <p:blipFill>
          <a:blip r:embed="rId7"/>
          <a:stretch>
            <a:fillRect/>
          </a:stretch>
        </p:blipFill>
        <p:spPr>
          <a:xfrm>
            <a:off x="12788248" y="18562360"/>
            <a:ext cx="6127243" cy="4205414"/>
          </a:xfrm>
          <a:prstGeom prst="rect">
            <a:avLst/>
          </a:prstGeom>
        </p:spPr>
      </p:pic>
      <p:sp>
        <p:nvSpPr>
          <p:cNvPr id="87" name="Rectangle: Rounded Corners 86">
            <a:extLst>
              <a:ext uri="{FF2B5EF4-FFF2-40B4-BE49-F238E27FC236}">
                <a16:creationId xmlns:a16="http://schemas.microsoft.com/office/drawing/2014/main" id="{7E4C1AFA-9213-4C99-B9A6-4AD971A72741}"/>
              </a:ext>
            </a:extLst>
          </p:cNvPr>
          <p:cNvSpPr/>
          <p:nvPr/>
        </p:nvSpPr>
        <p:spPr>
          <a:xfrm>
            <a:off x="12977464" y="15980219"/>
            <a:ext cx="6298465" cy="991664"/>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E7FAEC8D-C800-4EC6-9660-BAA5228A41DE}"/>
              </a:ext>
            </a:extLst>
          </p:cNvPr>
          <p:cNvSpPr txBox="1"/>
          <p:nvPr/>
        </p:nvSpPr>
        <p:spPr>
          <a:xfrm>
            <a:off x="13335719" y="16214441"/>
            <a:ext cx="6266316"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Input-(70% train-20% val., 10% test)</a:t>
            </a:r>
          </a:p>
        </p:txBody>
      </p:sp>
      <p:sp>
        <p:nvSpPr>
          <p:cNvPr id="89" name="Arrow: Down 88">
            <a:extLst>
              <a:ext uri="{FF2B5EF4-FFF2-40B4-BE49-F238E27FC236}">
                <a16:creationId xmlns:a16="http://schemas.microsoft.com/office/drawing/2014/main" id="{001FB65C-B5ED-490B-8551-58902D6033E0}"/>
              </a:ext>
            </a:extLst>
          </p:cNvPr>
          <p:cNvSpPr/>
          <p:nvPr/>
        </p:nvSpPr>
        <p:spPr>
          <a:xfrm>
            <a:off x="15061112" y="17195363"/>
            <a:ext cx="548056" cy="9372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extBox 92">
            <a:extLst>
              <a:ext uri="{FF2B5EF4-FFF2-40B4-BE49-F238E27FC236}">
                <a16:creationId xmlns:a16="http://schemas.microsoft.com/office/drawing/2014/main" id="{2F641884-AB4B-42C8-ADC5-B5BF779203F8}"/>
              </a:ext>
            </a:extLst>
          </p:cNvPr>
          <p:cNvSpPr txBox="1"/>
          <p:nvPr/>
        </p:nvSpPr>
        <p:spPr>
          <a:xfrm>
            <a:off x="18721615" y="17401142"/>
            <a:ext cx="4490437" cy="341632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LSTM layer- 3 layers total 64 hidden neurons. LSTM is a special RNN designed to learn from sequential data, captures long-term dependencies,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Core Components: Forget Gate, Cell State memory,  Input Gate, Output Gate</a:t>
            </a:r>
          </a:p>
        </p:txBody>
      </p:sp>
      <p:sp>
        <p:nvSpPr>
          <p:cNvPr id="94" name="TextBox 93">
            <a:extLst>
              <a:ext uri="{FF2B5EF4-FFF2-40B4-BE49-F238E27FC236}">
                <a16:creationId xmlns:a16="http://schemas.microsoft.com/office/drawing/2014/main" id="{2709379E-DE56-45B1-A204-14E7FA2B343B}"/>
              </a:ext>
            </a:extLst>
          </p:cNvPr>
          <p:cNvSpPr txBox="1"/>
          <p:nvPr/>
        </p:nvSpPr>
        <p:spPr>
          <a:xfrm>
            <a:off x="14393961" y="18127300"/>
            <a:ext cx="2755986" cy="369332"/>
          </a:xfrm>
          <a:prstGeom prst="rect">
            <a:avLst/>
          </a:prstGeom>
          <a:noFill/>
        </p:spPr>
        <p:txBody>
          <a:bodyPr wrap="square" rtlCol="0">
            <a:spAutoFit/>
          </a:bodyPr>
          <a:lstStyle/>
          <a:p>
            <a:r>
              <a:rPr lang="en-US" b="1" dirty="0"/>
              <a:t>LSTM Layer</a:t>
            </a:r>
          </a:p>
        </p:txBody>
      </p:sp>
      <p:sp>
        <p:nvSpPr>
          <p:cNvPr id="95" name="TextBox 94">
            <a:extLst>
              <a:ext uri="{FF2B5EF4-FFF2-40B4-BE49-F238E27FC236}">
                <a16:creationId xmlns:a16="http://schemas.microsoft.com/office/drawing/2014/main" id="{D7DB848E-8A2B-4D4A-B996-108EC61655CD}"/>
              </a:ext>
            </a:extLst>
          </p:cNvPr>
          <p:cNvSpPr txBox="1"/>
          <p:nvPr/>
        </p:nvSpPr>
        <p:spPr>
          <a:xfrm>
            <a:off x="19899937" y="22142941"/>
            <a:ext cx="4848300" cy="230832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Training used:</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Learning Rate-(1 *10^-3)</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Batch Size=32</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10 epochs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Adam optimizer </a:t>
            </a:r>
          </a:p>
          <a:p>
            <a:endParaRPr lang="en-US" sz="2400" dirty="0">
              <a:latin typeface="Times New Roman" panose="02020603050405020304" pitchFamily="18" charset="0"/>
              <a:cs typeface="Times New Roman" panose="02020603050405020304" pitchFamily="18" charset="0"/>
            </a:endParaRPr>
          </a:p>
        </p:txBody>
      </p:sp>
      <p:sp>
        <p:nvSpPr>
          <p:cNvPr id="99" name="TextBox 98">
            <a:extLst>
              <a:ext uri="{FF2B5EF4-FFF2-40B4-BE49-F238E27FC236}">
                <a16:creationId xmlns:a16="http://schemas.microsoft.com/office/drawing/2014/main" id="{574362F2-39C2-4D72-B4F6-1988B757ADD1}"/>
              </a:ext>
            </a:extLst>
          </p:cNvPr>
          <p:cNvSpPr txBox="1"/>
          <p:nvPr/>
        </p:nvSpPr>
        <p:spPr>
          <a:xfrm>
            <a:off x="11808540" y="15027740"/>
            <a:ext cx="11957836"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Model Architecture </a:t>
            </a:r>
            <a:endParaRPr lang="en-US" sz="3200" dirty="0">
              <a:latin typeface="Times New Roman" panose="02020603050405020304" pitchFamily="18" charset="0"/>
              <a:cs typeface="Times New Roman" panose="02020603050405020304" pitchFamily="18" charset="0"/>
            </a:endParaRPr>
          </a:p>
        </p:txBody>
      </p:sp>
      <p:sp>
        <p:nvSpPr>
          <p:cNvPr id="97" name="Flowchart: Process 96">
            <a:extLst>
              <a:ext uri="{FF2B5EF4-FFF2-40B4-BE49-F238E27FC236}">
                <a16:creationId xmlns:a16="http://schemas.microsoft.com/office/drawing/2014/main" id="{C3FB07F2-D8FE-42FA-9607-56A73B3A512F}"/>
              </a:ext>
            </a:extLst>
          </p:cNvPr>
          <p:cNvSpPr/>
          <p:nvPr/>
        </p:nvSpPr>
        <p:spPr>
          <a:xfrm>
            <a:off x="24790525" y="3707240"/>
            <a:ext cx="11421985" cy="14789392"/>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a:extLst>
              <a:ext uri="{FF2B5EF4-FFF2-40B4-BE49-F238E27FC236}">
                <a16:creationId xmlns:a16="http://schemas.microsoft.com/office/drawing/2014/main" id="{3E0C4AA2-4AB7-49E1-8955-0867F40F6E69}"/>
              </a:ext>
            </a:extLst>
          </p:cNvPr>
          <p:cNvSpPr txBox="1"/>
          <p:nvPr/>
        </p:nvSpPr>
        <p:spPr>
          <a:xfrm>
            <a:off x="23714599" y="3743737"/>
            <a:ext cx="11117001"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Results </a:t>
            </a:r>
          </a:p>
        </p:txBody>
      </p:sp>
      <p:pic>
        <p:nvPicPr>
          <p:cNvPr id="102" name="Picture 101">
            <a:extLst>
              <a:ext uri="{FF2B5EF4-FFF2-40B4-BE49-F238E27FC236}">
                <a16:creationId xmlns:a16="http://schemas.microsoft.com/office/drawing/2014/main" id="{43EC8649-9490-4A73-A944-27B702504C4E}"/>
              </a:ext>
            </a:extLst>
          </p:cNvPr>
          <p:cNvPicPr>
            <a:picLocks noChangeAspect="1"/>
          </p:cNvPicPr>
          <p:nvPr/>
        </p:nvPicPr>
        <p:blipFill>
          <a:blip r:embed="rId8"/>
          <a:stretch>
            <a:fillRect/>
          </a:stretch>
        </p:blipFill>
        <p:spPr>
          <a:xfrm>
            <a:off x="24789527" y="4314900"/>
            <a:ext cx="7814402" cy="5497899"/>
          </a:xfrm>
          <a:prstGeom prst="rect">
            <a:avLst/>
          </a:prstGeom>
        </p:spPr>
      </p:pic>
      <p:pic>
        <p:nvPicPr>
          <p:cNvPr id="103" name="Picture 102">
            <a:extLst>
              <a:ext uri="{FF2B5EF4-FFF2-40B4-BE49-F238E27FC236}">
                <a16:creationId xmlns:a16="http://schemas.microsoft.com/office/drawing/2014/main" id="{86BF7682-D030-484B-A14A-6A779BDDBB55}"/>
              </a:ext>
            </a:extLst>
          </p:cNvPr>
          <p:cNvPicPr>
            <a:picLocks noChangeAspect="1"/>
          </p:cNvPicPr>
          <p:nvPr/>
        </p:nvPicPr>
        <p:blipFill>
          <a:blip r:embed="rId9"/>
          <a:stretch>
            <a:fillRect/>
          </a:stretch>
        </p:blipFill>
        <p:spPr>
          <a:xfrm>
            <a:off x="24874512" y="9812799"/>
            <a:ext cx="7779707" cy="5019784"/>
          </a:xfrm>
          <a:prstGeom prst="rect">
            <a:avLst/>
          </a:prstGeom>
        </p:spPr>
      </p:pic>
      <p:pic>
        <p:nvPicPr>
          <p:cNvPr id="107" name="Picture 106">
            <a:extLst>
              <a:ext uri="{FF2B5EF4-FFF2-40B4-BE49-F238E27FC236}">
                <a16:creationId xmlns:a16="http://schemas.microsoft.com/office/drawing/2014/main" id="{95283E41-D262-44C6-9B7C-66ACF1CEC8D6}"/>
              </a:ext>
            </a:extLst>
          </p:cNvPr>
          <p:cNvPicPr>
            <a:picLocks noChangeAspect="1"/>
          </p:cNvPicPr>
          <p:nvPr/>
        </p:nvPicPr>
        <p:blipFill>
          <a:blip r:embed="rId10"/>
          <a:stretch>
            <a:fillRect/>
          </a:stretch>
        </p:blipFill>
        <p:spPr>
          <a:xfrm>
            <a:off x="452587" y="20427099"/>
            <a:ext cx="6113363" cy="4845741"/>
          </a:xfrm>
          <a:prstGeom prst="rect">
            <a:avLst/>
          </a:prstGeom>
        </p:spPr>
      </p:pic>
      <p:sp>
        <p:nvSpPr>
          <p:cNvPr id="108" name="Rectangle 107">
            <a:extLst>
              <a:ext uri="{FF2B5EF4-FFF2-40B4-BE49-F238E27FC236}">
                <a16:creationId xmlns:a16="http://schemas.microsoft.com/office/drawing/2014/main" id="{E60832CD-7A0D-463D-BB15-8E1FECCB2A7D}"/>
              </a:ext>
            </a:extLst>
          </p:cNvPr>
          <p:cNvSpPr/>
          <p:nvPr/>
        </p:nvSpPr>
        <p:spPr>
          <a:xfrm>
            <a:off x="7324518" y="20230535"/>
            <a:ext cx="4187872" cy="3416320"/>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A window of 16 past quarters (Input Sequence, X) is used to predict the next 3 quarters (Output Sequence, y).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By sliding this window across the time series for each product family, model generate multiple (X, y) pairs for model training. </a:t>
            </a:r>
          </a:p>
        </p:txBody>
      </p:sp>
      <p:sp>
        <p:nvSpPr>
          <p:cNvPr id="109" name="Arrow: Down 108">
            <a:extLst>
              <a:ext uri="{FF2B5EF4-FFF2-40B4-BE49-F238E27FC236}">
                <a16:creationId xmlns:a16="http://schemas.microsoft.com/office/drawing/2014/main" id="{C5B2D842-B85D-4800-AEB2-C56B1AE4527D}"/>
              </a:ext>
            </a:extLst>
          </p:cNvPr>
          <p:cNvSpPr/>
          <p:nvPr/>
        </p:nvSpPr>
        <p:spPr>
          <a:xfrm>
            <a:off x="15206391" y="22849970"/>
            <a:ext cx="548056" cy="9372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Rounded Corners 109">
            <a:extLst>
              <a:ext uri="{FF2B5EF4-FFF2-40B4-BE49-F238E27FC236}">
                <a16:creationId xmlns:a16="http://schemas.microsoft.com/office/drawing/2014/main" id="{EB47F1D0-4F79-4B7E-9F9B-2E16FD6690B8}"/>
              </a:ext>
            </a:extLst>
          </p:cNvPr>
          <p:cNvSpPr/>
          <p:nvPr/>
        </p:nvSpPr>
        <p:spPr>
          <a:xfrm>
            <a:off x="12977464" y="23950298"/>
            <a:ext cx="6298465" cy="991664"/>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Box 104">
            <a:extLst>
              <a:ext uri="{FF2B5EF4-FFF2-40B4-BE49-F238E27FC236}">
                <a16:creationId xmlns:a16="http://schemas.microsoft.com/office/drawing/2014/main" id="{532362BE-001B-4144-A12F-2FB1E2EB59C9}"/>
              </a:ext>
            </a:extLst>
          </p:cNvPr>
          <p:cNvSpPr txBox="1"/>
          <p:nvPr/>
        </p:nvSpPr>
        <p:spPr>
          <a:xfrm>
            <a:off x="13333406" y="24173585"/>
            <a:ext cx="5283710"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Fully Connected Layer</a:t>
            </a:r>
          </a:p>
        </p:txBody>
      </p:sp>
      <p:graphicFrame>
        <p:nvGraphicFramePr>
          <p:cNvPr id="106" name="Table 105">
            <a:extLst>
              <a:ext uri="{FF2B5EF4-FFF2-40B4-BE49-F238E27FC236}">
                <a16:creationId xmlns:a16="http://schemas.microsoft.com/office/drawing/2014/main" id="{AC10C53E-0D36-435D-9D4F-8C62ECF64A87}"/>
              </a:ext>
            </a:extLst>
          </p:cNvPr>
          <p:cNvGraphicFramePr>
            <a:graphicFrameLocks noGrp="1"/>
          </p:cNvGraphicFramePr>
          <p:nvPr>
            <p:extLst>
              <p:ext uri="{D42A27DB-BD31-4B8C-83A1-F6EECF244321}">
                <p14:modId xmlns:p14="http://schemas.microsoft.com/office/powerpoint/2010/main" val="2422901429"/>
              </p:ext>
            </p:extLst>
          </p:nvPr>
        </p:nvGraphicFramePr>
        <p:xfrm>
          <a:off x="25456883" y="15045015"/>
          <a:ext cx="5470562" cy="2225040"/>
        </p:xfrm>
        <a:graphic>
          <a:graphicData uri="http://schemas.openxmlformats.org/drawingml/2006/table">
            <a:tbl>
              <a:tblPr firstRow="1" bandRow="1">
                <a:tableStyleId>{5C22544A-7EE6-4342-B048-85BDC9FD1C3A}</a:tableStyleId>
              </a:tblPr>
              <a:tblGrid>
                <a:gridCol w="2735281">
                  <a:extLst>
                    <a:ext uri="{9D8B030D-6E8A-4147-A177-3AD203B41FA5}">
                      <a16:colId xmlns:a16="http://schemas.microsoft.com/office/drawing/2014/main" val="2250531121"/>
                    </a:ext>
                  </a:extLst>
                </a:gridCol>
                <a:gridCol w="2735281">
                  <a:extLst>
                    <a:ext uri="{9D8B030D-6E8A-4147-A177-3AD203B41FA5}">
                      <a16:colId xmlns:a16="http://schemas.microsoft.com/office/drawing/2014/main" val="3487054487"/>
                    </a:ext>
                  </a:extLst>
                </a:gridCol>
              </a:tblGrid>
              <a:tr h="370840">
                <a:tc>
                  <a:txBody>
                    <a:bodyPr/>
                    <a:lstStyle/>
                    <a:p>
                      <a:r>
                        <a:rPr lang="en-US" sz="2000" dirty="0">
                          <a:solidFill>
                            <a:schemeClr val="tx1"/>
                          </a:solidFill>
                          <a:effectLst/>
                          <a:latin typeface="Times New Roman" panose="02020603050405020304" pitchFamily="18" charset="0"/>
                          <a:cs typeface="Times New Roman" panose="02020603050405020304" pitchFamily="18" charset="0"/>
                        </a:rPr>
                        <a:t>Normalized MSE Test Loss</a:t>
                      </a:r>
                    </a:p>
                  </a:txBody>
                  <a:tcPr/>
                </a:tc>
                <a:tc>
                  <a:txBody>
                    <a:bodyPr/>
                    <a:lstStyle/>
                    <a:p>
                      <a:r>
                        <a:rPr lang="en-US" sz="2200" dirty="0">
                          <a:solidFill>
                            <a:schemeClr val="tx1"/>
                          </a:solidFill>
                          <a:latin typeface="Times New Roman" panose="02020603050405020304" pitchFamily="18" charset="0"/>
                          <a:cs typeface="Times New Roman" panose="02020603050405020304" pitchFamily="18" charset="0"/>
                        </a:rPr>
                        <a:t>0.0020</a:t>
                      </a:r>
                    </a:p>
                  </a:txBody>
                  <a:tcPr/>
                </a:tc>
                <a:extLst>
                  <a:ext uri="{0D108BD9-81ED-4DB2-BD59-A6C34878D82A}">
                    <a16:rowId xmlns:a16="http://schemas.microsoft.com/office/drawing/2014/main" val="2139882564"/>
                  </a:ext>
                </a:extLst>
              </a:tr>
              <a:tr h="0">
                <a:tc>
                  <a:txBody>
                    <a:bodyPr/>
                    <a:lstStyle/>
                    <a:p>
                      <a:r>
                        <a:rPr lang="en-US" sz="2200" b="0" dirty="0">
                          <a:solidFill>
                            <a:schemeClr val="tx1"/>
                          </a:solidFill>
                          <a:latin typeface="Times New Roman" panose="02020603050405020304" pitchFamily="18" charset="0"/>
                          <a:cs typeface="Times New Roman" panose="02020603050405020304" pitchFamily="18" charset="0"/>
                        </a:rPr>
                        <a:t>MAE Test Loss *Not normalized</a:t>
                      </a:r>
                    </a:p>
                  </a:txBody>
                  <a:tcPr/>
                </a:tc>
                <a:tc>
                  <a:txBody>
                    <a:bodyPr/>
                    <a:lstStyle/>
                    <a:p>
                      <a:r>
                        <a:rPr lang="en-US" sz="2200" dirty="0">
                          <a:latin typeface="Times New Roman" panose="02020603050405020304" pitchFamily="18" charset="0"/>
                          <a:cs typeface="Times New Roman" panose="02020603050405020304" pitchFamily="18" charset="0"/>
                        </a:rPr>
                        <a:t>5802.34</a:t>
                      </a:r>
                    </a:p>
                  </a:txBody>
                  <a:tcPr/>
                </a:tc>
                <a:extLst>
                  <a:ext uri="{0D108BD9-81ED-4DB2-BD59-A6C34878D82A}">
                    <a16:rowId xmlns:a16="http://schemas.microsoft.com/office/drawing/2014/main" val="4197616282"/>
                  </a:ext>
                </a:extLst>
              </a:tr>
              <a:tr h="370840">
                <a:tc>
                  <a:txBody>
                    <a:bodyPr/>
                    <a:lstStyle/>
                    <a:p>
                      <a:r>
                        <a:rPr lang="en-US" sz="2200" dirty="0">
                          <a:latin typeface="Times New Roman" panose="02020603050405020304" pitchFamily="18" charset="0"/>
                          <a:cs typeface="Times New Roman" panose="02020603050405020304" pitchFamily="18" charset="0"/>
                        </a:rPr>
                        <a:t>MSE Test Loss *Not normalized</a:t>
                      </a:r>
                    </a:p>
                  </a:txBody>
                  <a:tcPr/>
                </a:tc>
                <a:tc>
                  <a:txBody>
                    <a:bodyPr/>
                    <a:lstStyle/>
                    <a:p>
                      <a:r>
                        <a:rPr lang="en-US" sz="2200" dirty="0">
                          <a:latin typeface="Times New Roman" panose="02020603050405020304" pitchFamily="18" charset="0"/>
                          <a:cs typeface="Times New Roman" panose="02020603050405020304" pitchFamily="18" charset="0"/>
                        </a:rPr>
                        <a:t>107344042.069</a:t>
                      </a:r>
                    </a:p>
                  </a:txBody>
                  <a:tcPr/>
                </a:tc>
                <a:extLst>
                  <a:ext uri="{0D108BD9-81ED-4DB2-BD59-A6C34878D82A}">
                    <a16:rowId xmlns:a16="http://schemas.microsoft.com/office/drawing/2014/main" val="1093650199"/>
                  </a:ext>
                </a:extLst>
              </a:tr>
            </a:tbl>
          </a:graphicData>
        </a:graphic>
      </p:graphicFrame>
      <p:sp>
        <p:nvSpPr>
          <p:cNvPr id="113" name="Rectangle 112">
            <a:extLst>
              <a:ext uri="{FF2B5EF4-FFF2-40B4-BE49-F238E27FC236}">
                <a16:creationId xmlns:a16="http://schemas.microsoft.com/office/drawing/2014/main" id="{054B3050-0C36-47F6-BD61-5902E5930F29}"/>
              </a:ext>
            </a:extLst>
          </p:cNvPr>
          <p:cNvSpPr/>
          <p:nvPr/>
        </p:nvSpPr>
        <p:spPr>
          <a:xfrm>
            <a:off x="32464270" y="10421099"/>
            <a:ext cx="3659615" cy="2800767"/>
          </a:xfrm>
          <a:prstGeom prst="rect">
            <a:avLst/>
          </a:prstGeom>
        </p:spPr>
        <p:txBody>
          <a:bodyPr wrap="square">
            <a:spAutoFit/>
          </a:bodyPr>
          <a:lstStyle/>
          <a:p>
            <a:r>
              <a:rPr lang="en-US" sz="2200" b="1" dirty="0">
                <a:solidFill>
                  <a:srgbClr val="222222"/>
                </a:solidFill>
                <a:latin typeface="Times New Roman" panose="02020603050405020304" pitchFamily="18" charset="0"/>
                <a:cs typeface="Times New Roman" panose="02020603050405020304" pitchFamily="18" charset="0"/>
              </a:rPr>
              <a:t>Graph 2:</a:t>
            </a:r>
            <a:r>
              <a:rPr lang="en-US" sz="2200" dirty="0">
                <a:solidFill>
                  <a:srgbClr val="222222"/>
                </a:solidFill>
                <a:latin typeface="Times New Roman" panose="02020603050405020304" pitchFamily="18" charset="0"/>
                <a:cs typeface="Times New Roman" panose="02020603050405020304" pitchFamily="18" charset="0"/>
              </a:rPr>
              <a:t> Comparison of predicted revenue (orange) against ground-truth revenue (blue) over successive time steps, demonstrating how closely the model’s forecasts match actual values.</a:t>
            </a:r>
            <a:br>
              <a:rPr lang="en-US" sz="2200" dirty="0">
                <a:latin typeface="Times New Roman" panose="02020603050405020304" pitchFamily="18" charset="0"/>
                <a:cs typeface="Times New Roman" panose="02020603050405020304" pitchFamily="18" charset="0"/>
              </a:rPr>
            </a:br>
            <a:r>
              <a:rPr lang="en-US" sz="2200" dirty="0">
                <a:solidFill>
                  <a:srgbClr val="222222"/>
                </a:solidFill>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p:txBody>
      </p:sp>
      <p:sp>
        <p:nvSpPr>
          <p:cNvPr id="115" name="TextBox 114">
            <a:extLst>
              <a:ext uri="{FF2B5EF4-FFF2-40B4-BE49-F238E27FC236}">
                <a16:creationId xmlns:a16="http://schemas.microsoft.com/office/drawing/2014/main" id="{29DA85E1-99BE-4796-95DB-CD871E6774A4}"/>
              </a:ext>
            </a:extLst>
          </p:cNvPr>
          <p:cNvSpPr txBox="1"/>
          <p:nvPr/>
        </p:nvSpPr>
        <p:spPr>
          <a:xfrm>
            <a:off x="32131044" y="5209097"/>
            <a:ext cx="3659614" cy="4154984"/>
          </a:xfrm>
          <a:prstGeom prst="rect">
            <a:avLst/>
          </a:prstGeom>
          <a:noFill/>
        </p:spPr>
        <p:txBody>
          <a:bodyPr wrap="square" rtlCol="0">
            <a:spAutoFit/>
          </a:bodyPr>
          <a:lstStyle/>
          <a:p>
            <a:r>
              <a:rPr lang="en-US" sz="2200" b="1" dirty="0">
                <a:solidFill>
                  <a:srgbClr val="222222"/>
                </a:solidFill>
                <a:latin typeface="Times New Roman" panose="02020603050405020304" pitchFamily="18" charset="0"/>
                <a:cs typeface="Times New Roman" panose="02020603050405020304" pitchFamily="18" charset="0"/>
              </a:rPr>
              <a:t>Graph 1 :</a:t>
            </a:r>
            <a:r>
              <a:rPr lang="en-US" sz="2200" dirty="0">
                <a:solidFill>
                  <a:srgbClr val="222222"/>
                </a:solidFill>
                <a:latin typeface="Times New Roman" panose="02020603050405020304" pitchFamily="18" charset="0"/>
                <a:cs typeface="Times New Roman" panose="02020603050405020304" pitchFamily="18" charset="0"/>
              </a:rPr>
              <a:t> Evolution of training and validation Mean Squared Error over 10 epochs. The downward trend indicates improved alignment between predictions and ground truth, with Mean Absolute Error and Mean Squared Error quantifying the average magnitude and squared magnitude of forecast errors, respectively.</a:t>
            </a:r>
            <a:endParaRPr lang="en-US" sz="2200" dirty="0">
              <a:latin typeface="Times New Roman" panose="02020603050405020304" pitchFamily="18" charset="0"/>
              <a:cs typeface="Times New Roman" panose="02020603050405020304" pitchFamily="18" charset="0"/>
            </a:endParaRPr>
          </a:p>
        </p:txBody>
      </p:sp>
      <p:sp>
        <p:nvSpPr>
          <p:cNvPr id="116" name="Rectangle 115">
            <a:extLst>
              <a:ext uri="{FF2B5EF4-FFF2-40B4-BE49-F238E27FC236}">
                <a16:creationId xmlns:a16="http://schemas.microsoft.com/office/drawing/2014/main" id="{005B744D-F70E-4AC2-89DC-A887D547F365}"/>
              </a:ext>
            </a:extLst>
          </p:cNvPr>
          <p:cNvSpPr/>
          <p:nvPr/>
        </p:nvSpPr>
        <p:spPr>
          <a:xfrm>
            <a:off x="31227005" y="14877260"/>
            <a:ext cx="4513101" cy="3816429"/>
          </a:xfrm>
          <a:prstGeom prst="rect">
            <a:avLst/>
          </a:prstGeom>
        </p:spPr>
        <p:txBody>
          <a:bodyPr wrap="square">
            <a:spAutoFit/>
          </a:bodyPr>
          <a:lstStyle/>
          <a:p>
            <a:r>
              <a:rPr lang="en-US" sz="2200" b="1" dirty="0">
                <a:solidFill>
                  <a:srgbClr val="222222"/>
                </a:solidFill>
                <a:latin typeface="Times New Roman" panose="02020603050405020304" pitchFamily="18" charset="0"/>
                <a:cs typeface="Times New Roman" panose="02020603050405020304" pitchFamily="18" charset="0"/>
              </a:rPr>
              <a:t>Table 1: </a:t>
            </a:r>
            <a:r>
              <a:rPr lang="en-US" sz="2200" dirty="0">
                <a:latin typeface="Times New Roman" panose="02020603050405020304" pitchFamily="18" charset="0"/>
                <a:cs typeface="Times New Roman" panose="02020603050405020304" pitchFamily="18" charset="0"/>
              </a:rPr>
              <a:t> On unseen data, the model achieves a very low normalized MSE (0.0020), indicating strong pattern capture on scaled inputs. In original dollars, it produces an average absolute error of $5,802 (MAE) and an average squared error of 1.07×10⁷ (MSE), reflecting typical revenue magnitudes and forecasting accuracy.  </a:t>
            </a:r>
            <a:br>
              <a:rPr lang="en-US" sz="2200" dirty="0">
                <a:latin typeface="Times New Roman" panose="02020603050405020304" pitchFamily="18" charset="0"/>
                <a:cs typeface="Times New Roman" panose="02020603050405020304" pitchFamily="18" charset="0"/>
              </a:rPr>
            </a:br>
            <a:r>
              <a:rPr lang="en-US" sz="2200" dirty="0">
                <a:solidFill>
                  <a:srgbClr val="222222"/>
                </a:solidFill>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p:txBody>
      </p:sp>
      <p:pic>
        <p:nvPicPr>
          <p:cNvPr id="118" name="Picture 117">
            <a:extLst>
              <a:ext uri="{FF2B5EF4-FFF2-40B4-BE49-F238E27FC236}">
                <a16:creationId xmlns:a16="http://schemas.microsoft.com/office/drawing/2014/main" id="{8BF17250-F88C-4DFF-AA02-75449A91EC87}"/>
              </a:ext>
            </a:extLst>
          </p:cNvPr>
          <p:cNvPicPr>
            <a:picLocks noChangeAspect="1"/>
          </p:cNvPicPr>
          <p:nvPr/>
        </p:nvPicPr>
        <p:blipFill>
          <a:blip r:embed="rId11"/>
          <a:stretch>
            <a:fillRect/>
          </a:stretch>
        </p:blipFill>
        <p:spPr>
          <a:xfrm>
            <a:off x="24865697" y="18398820"/>
            <a:ext cx="4725556" cy="4732145"/>
          </a:xfrm>
          <a:prstGeom prst="rect">
            <a:avLst/>
          </a:prstGeom>
        </p:spPr>
      </p:pic>
      <p:sp>
        <p:nvSpPr>
          <p:cNvPr id="120" name="TextBox 119">
            <a:extLst>
              <a:ext uri="{FF2B5EF4-FFF2-40B4-BE49-F238E27FC236}">
                <a16:creationId xmlns:a16="http://schemas.microsoft.com/office/drawing/2014/main" id="{37CEA21A-F516-4CD9-870F-978B8B39677B}"/>
              </a:ext>
            </a:extLst>
          </p:cNvPr>
          <p:cNvSpPr txBox="1"/>
          <p:nvPr/>
        </p:nvSpPr>
        <p:spPr>
          <a:xfrm>
            <a:off x="29863877" y="18806583"/>
            <a:ext cx="6193961" cy="341632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GUI Deployment</a:t>
            </a:r>
          </a:p>
          <a:p>
            <a:r>
              <a:rPr lang="en-US" sz="2400" dirty="0">
                <a:latin typeface="Times New Roman" panose="02020603050405020304" pitchFamily="18" charset="0"/>
                <a:cs typeface="Times New Roman" panose="02020603050405020304" pitchFamily="18" charset="0"/>
              </a:rPr>
              <a:t>Built in a </a:t>
            </a:r>
            <a:r>
              <a:rPr lang="en-US" sz="2400" dirty="0" err="1">
                <a:latin typeface="Times New Roman" panose="02020603050405020304" pitchFamily="18" charset="0"/>
                <a:cs typeface="Times New Roman" panose="02020603050405020304" pitchFamily="18" charset="0"/>
              </a:rPr>
              <a:t>Jupyter</a:t>
            </a:r>
            <a:r>
              <a:rPr lang="en-US" sz="2400" dirty="0">
                <a:latin typeface="Times New Roman" panose="02020603050405020304" pitchFamily="18" charset="0"/>
                <a:cs typeface="Times New Roman" panose="02020603050405020304" pitchFamily="18" charset="0"/>
              </a:rPr>
              <a:t> environment using </a:t>
            </a:r>
            <a:r>
              <a:rPr lang="en-US" sz="2400" dirty="0" err="1">
                <a:latin typeface="Times New Roman" panose="02020603050405020304" pitchFamily="18" charset="0"/>
                <a:cs typeface="Times New Roman" panose="02020603050405020304" pitchFamily="18" charset="0"/>
              </a:rPr>
              <a:t>Streamlit</a:t>
            </a:r>
            <a:r>
              <a:rPr lang="en-US" sz="2400" dirty="0">
                <a:latin typeface="Times New Roman" panose="02020603050405020304" pitchFamily="18" charset="0"/>
                <a:cs typeface="Times New Roman" panose="02020603050405020304" pitchFamily="18" charset="0"/>
              </a:rPr>
              <a:t> for the interface, and Pandas for data, users can upload a historical revenue CSV, select SBE-1(Product family) in drop down, and future quarter, and instantly view the real time forecasting  by the deployed model to see predicted market trends for informed decision making</a:t>
            </a:r>
          </a:p>
        </p:txBody>
      </p:sp>
      <p:sp>
        <p:nvSpPr>
          <p:cNvPr id="122" name="TextBox 121">
            <a:extLst>
              <a:ext uri="{FF2B5EF4-FFF2-40B4-BE49-F238E27FC236}">
                <a16:creationId xmlns:a16="http://schemas.microsoft.com/office/drawing/2014/main" id="{0A4644F5-F40E-46F2-BBE7-62092AB6FE33}"/>
              </a:ext>
            </a:extLst>
          </p:cNvPr>
          <p:cNvSpPr txBox="1"/>
          <p:nvPr/>
        </p:nvSpPr>
        <p:spPr>
          <a:xfrm>
            <a:off x="32277578" y="12910439"/>
            <a:ext cx="3920751" cy="1785104"/>
          </a:xfrm>
          <a:prstGeom prst="rect">
            <a:avLst/>
          </a:prstGeom>
          <a:noFill/>
        </p:spPr>
        <p:txBody>
          <a:bodyPr wrap="square" rtlCol="0">
            <a:spAutoFit/>
          </a:bodyPr>
          <a:lstStyle/>
          <a:p>
            <a:r>
              <a:rPr lang="pt-BR" sz="2200" b="1" dirty="0">
                <a:latin typeface="Times New Roman" panose="02020603050405020304" pitchFamily="18" charset="0"/>
                <a:cs typeface="Times New Roman" panose="02020603050405020304" pitchFamily="18" charset="0"/>
              </a:rPr>
              <a:t>MSE</a:t>
            </a:r>
            <a:r>
              <a:rPr lang="pt-BR" sz="2200" dirty="0">
                <a:latin typeface="Times New Roman" panose="02020603050405020304" pitchFamily="18" charset="0"/>
                <a:cs typeface="Times New Roman" panose="02020603050405020304" pitchFamily="18" charset="0"/>
              </a:rPr>
              <a:t> = (1/n) * Σ(yᵢ - ŷᵢ)² </a:t>
            </a:r>
          </a:p>
          <a:p>
            <a:r>
              <a:rPr lang="pt-BR" sz="2200" dirty="0">
                <a:latin typeface="Times New Roman" panose="02020603050405020304" pitchFamily="18" charset="0"/>
                <a:cs typeface="Times New Roman" panose="02020603050405020304" pitchFamily="18" charset="0"/>
              </a:rPr>
              <a:t> </a:t>
            </a:r>
            <a:r>
              <a:rPr lang="pt-BR" sz="2200" b="1" dirty="0">
                <a:latin typeface="Times New Roman" panose="02020603050405020304" pitchFamily="18" charset="0"/>
                <a:cs typeface="Times New Roman" panose="02020603050405020304" pitchFamily="18" charset="0"/>
              </a:rPr>
              <a:t>MAE</a:t>
            </a:r>
            <a:r>
              <a:rPr lang="pt-BR" sz="2200" dirty="0">
                <a:latin typeface="Times New Roman" panose="02020603050405020304" pitchFamily="18" charset="0"/>
                <a:cs typeface="Times New Roman" panose="02020603050405020304" pitchFamily="18" charset="0"/>
              </a:rPr>
              <a:t> = (1/n) * Σ|y - ŷ|  </a:t>
            </a:r>
          </a:p>
          <a:p>
            <a:r>
              <a:rPr lang="pt-BR" sz="2200" dirty="0">
                <a:latin typeface="Times New Roman" panose="02020603050405020304" pitchFamily="18" charset="0"/>
                <a:cs typeface="Times New Roman" panose="02020603050405020304" pitchFamily="18" charset="0"/>
              </a:rPr>
              <a:t>N-# of samples</a:t>
            </a:r>
          </a:p>
          <a:p>
            <a:r>
              <a:rPr lang="pt-BR" sz="2200" dirty="0">
                <a:latin typeface="Times New Roman" panose="02020603050405020304" pitchFamily="18" charset="0"/>
                <a:cs typeface="Times New Roman" panose="02020603050405020304" pitchFamily="18" charset="0"/>
              </a:rPr>
              <a:t>Y hat-Predicted Value</a:t>
            </a:r>
          </a:p>
          <a:p>
            <a:r>
              <a:rPr lang="pt-BR" sz="2200" dirty="0">
                <a:latin typeface="Times New Roman" panose="02020603050405020304" pitchFamily="18" charset="0"/>
                <a:cs typeface="Times New Roman" panose="02020603050405020304" pitchFamily="18" charset="0"/>
              </a:rPr>
              <a:t>Y-Actual  Value</a:t>
            </a:r>
            <a:endParaRPr lang="en-US" sz="2200" dirty="0">
              <a:latin typeface="Times New Roman" panose="02020603050405020304" pitchFamily="18" charset="0"/>
              <a:cs typeface="Times New Roman" panose="02020603050405020304" pitchFamily="18" charset="0"/>
            </a:endParaRPr>
          </a:p>
        </p:txBody>
      </p:sp>
      <p:sp>
        <p:nvSpPr>
          <p:cNvPr id="125" name="TextBox 124">
            <a:extLst>
              <a:ext uri="{FF2B5EF4-FFF2-40B4-BE49-F238E27FC236}">
                <a16:creationId xmlns:a16="http://schemas.microsoft.com/office/drawing/2014/main" id="{E836621D-A1BD-425A-AEEB-F904E027CD62}"/>
              </a:ext>
            </a:extLst>
          </p:cNvPr>
          <p:cNvSpPr txBox="1"/>
          <p:nvPr/>
        </p:nvSpPr>
        <p:spPr>
          <a:xfrm>
            <a:off x="24848818" y="23028623"/>
            <a:ext cx="11435511" cy="246221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Future Work</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Use model to predict total available market ($) or expected volumes of a certain material bought by a customer, so TSR can accurately predict how much total revenue expected based on new socket wins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Train model on multiple inputs like Material, Sectors, </a:t>
            </a:r>
            <a:r>
              <a:rPr lang="en-US" sz="2200" dirty="0" err="1">
                <a:latin typeface="Times New Roman" panose="02020603050405020304" pitchFamily="18" charset="0"/>
                <a:cs typeface="Times New Roman" panose="02020603050405020304" pitchFamily="18" charset="0"/>
              </a:rPr>
              <a:t>etc</a:t>
            </a:r>
            <a:r>
              <a:rPr lang="en-US" sz="22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Experiment with other time forecasting models</a:t>
            </a:r>
          </a:p>
          <a:p>
            <a:pPr algn="ctr"/>
            <a:endParaRPr lang="en-US" sz="2200" b="1" dirty="0">
              <a:latin typeface="Times New Roman" panose="02020603050405020304" pitchFamily="18" charset="0"/>
              <a:cs typeface="Times New Roman" panose="02020603050405020304" pitchFamily="18" charset="0"/>
            </a:endParaRPr>
          </a:p>
        </p:txBody>
      </p:sp>
      <p:sp>
        <p:nvSpPr>
          <p:cNvPr id="127" name="Flowchart: Process 126">
            <a:extLst>
              <a:ext uri="{FF2B5EF4-FFF2-40B4-BE49-F238E27FC236}">
                <a16:creationId xmlns:a16="http://schemas.microsoft.com/office/drawing/2014/main" id="{F8EFC73A-A67B-4A45-B821-96112B2B9155}"/>
              </a:ext>
            </a:extLst>
          </p:cNvPr>
          <p:cNvSpPr/>
          <p:nvPr/>
        </p:nvSpPr>
        <p:spPr>
          <a:xfrm>
            <a:off x="14726434" y="13074619"/>
            <a:ext cx="479957" cy="362644"/>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16</a:t>
            </a:r>
          </a:p>
        </p:txBody>
      </p:sp>
      <p:sp>
        <p:nvSpPr>
          <p:cNvPr id="128" name="Flowchart: Process 127">
            <a:extLst>
              <a:ext uri="{FF2B5EF4-FFF2-40B4-BE49-F238E27FC236}">
                <a16:creationId xmlns:a16="http://schemas.microsoft.com/office/drawing/2014/main" id="{439B15EC-02B1-4E68-8462-5F94CFDBCCC7}"/>
              </a:ext>
            </a:extLst>
          </p:cNvPr>
          <p:cNvSpPr/>
          <p:nvPr/>
        </p:nvSpPr>
        <p:spPr>
          <a:xfrm>
            <a:off x="14097221" y="13027078"/>
            <a:ext cx="1927782" cy="638638"/>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(N, 16,18)</a:t>
            </a:r>
          </a:p>
        </p:txBody>
      </p:sp>
    </p:spTree>
  </p:cSld>
  <p:clrMapOvr>
    <a:masterClrMapping/>
  </p:clrMapOvr>
</p:sld>
</file>

<file path=ppt/theme/theme1.xml><?xml version="1.0" encoding="utf-8"?>
<a:theme xmlns:a="http://schemas.openxmlformats.org/drawingml/2006/main" name="FinalPowerpoint">
  <a:themeElements>
    <a:clrScheme name="Custom 1">
      <a:dk1>
        <a:srgbClr val="000000"/>
      </a:dk1>
      <a:lt1>
        <a:srgbClr val="FFFFFF"/>
      </a:lt1>
      <a:dk2>
        <a:srgbClr val="DE0000"/>
      </a:dk2>
      <a:lt2>
        <a:srgbClr val="808080"/>
      </a:lt2>
      <a:accent1>
        <a:srgbClr val="DE0000"/>
      </a:accent1>
      <a:accent2>
        <a:srgbClr val="AEAEAE"/>
      </a:accent2>
      <a:accent3>
        <a:srgbClr val="117788"/>
      </a:accent3>
      <a:accent4>
        <a:srgbClr val="404040"/>
      </a:accent4>
      <a:accent5>
        <a:srgbClr val="7F7F7F"/>
      </a:accent5>
      <a:accent6>
        <a:srgbClr val="32B4CE"/>
      </a:accent6>
      <a:hlink>
        <a:srgbClr val="DE0000"/>
      </a:hlink>
      <a:folHlink>
        <a:srgbClr val="AAAAAA"/>
      </a:folHlink>
    </a:clrScheme>
    <a:fontScheme name="FinalPowerpoi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nalPowerpoint 1">
        <a:dk1>
          <a:srgbClr val="000000"/>
        </a:dk1>
        <a:lt1>
          <a:srgbClr val="FFFFFF"/>
        </a:lt1>
        <a:dk2>
          <a:srgbClr val="FF0000"/>
        </a:dk2>
        <a:lt2>
          <a:srgbClr val="808080"/>
        </a:lt2>
        <a:accent1>
          <a:srgbClr val="AAAAAA"/>
        </a:accent1>
        <a:accent2>
          <a:srgbClr val="000000"/>
        </a:accent2>
        <a:accent3>
          <a:srgbClr val="FFFFFF"/>
        </a:accent3>
        <a:accent4>
          <a:srgbClr val="000000"/>
        </a:accent4>
        <a:accent5>
          <a:srgbClr val="D2D2D2"/>
        </a:accent5>
        <a:accent6>
          <a:srgbClr val="000000"/>
        </a:accent6>
        <a:hlink>
          <a:srgbClr val="FF0000"/>
        </a:hlink>
        <a:folHlink>
          <a:srgbClr val="AAAAAA"/>
        </a:folHlink>
      </a:clrScheme>
      <a:clrMap bg1="lt1" tx1="dk1" bg2="lt2" tx2="dk2" accent1="accent1" accent2="accent2" accent3="accent3" accent4="accent4" accent5="accent5" accent6="accent6" hlink="hlink" folHlink="folHlink"/>
    </a:extraClrScheme>
    <a:extraClrScheme>
      <a:clrScheme name="FinalPowerpoint 2">
        <a:dk1>
          <a:srgbClr val="AAAAAA"/>
        </a:dk1>
        <a:lt1>
          <a:srgbClr val="FFFFFF"/>
        </a:lt1>
        <a:dk2>
          <a:srgbClr val="000000"/>
        </a:dk2>
        <a:lt2>
          <a:srgbClr val="FFFFFF"/>
        </a:lt2>
        <a:accent1>
          <a:srgbClr val="AAAAAA"/>
        </a:accent1>
        <a:accent2>
          <a:srgbClr val="FFFFFF"/>
        </a:accent2>
        <a:accent3>
          <a:srgbClr val="AAAAAA"/>
        </a:accent3>
        <a:accent4>
          <a:srgbClr val="DADADA"/>
        </a:accent4>
        <a:accent5>
          <a:srgbClr val="D2D2D2"/>
        </a:accent5>
        <a:accent6>
          <a:srgbClr val="E7E7E7"/>
        </a:accent6>
        <a:hlink>
          <a:srgbClr val="AAAAAA"/>
        </a:hlink>
        <a:folHlink>
          <a:srgbClr val="FF0000"/>
        </a:folHlink>
      </a:clrScheme>
      <a:clrMap bg1="dk2" tx1="lt1" bg2="dk1" tx2="lt2" accent1="accent1" accent2="accent2" accent3="accent3" accent4="accent4" accent5="accent5" accent6="accent6" hlink="hlink" folHlink="folHlink"/>
    </a:extraClrScheme>
    <a:extraClrScheme>
      <a:clrScheme name="FinalPowerpoint 3">
        <a:dk1>
          <a:srgbClr val="808080"/>
        </a:dk1>
        <a:lt1>
          <a:srgbClr val="FFFFFF"/>
        </a:lt1>
        <a:dk2>
          <a:srgbClr val="AAAAAA"/>
        </a:dk2>
        <a:lt2>
          <a:srgbClr val="000000"/>
        </a:lt2>
        <a:accent1>
          <a:srgbClr val="000000"/>
        </a:accent1>
        <a:accent2>
          <a:srgbClr val="AAAAAA"/>
        </a:accent2>
        <a:accent3>
          <a:srgbClr val="D2D2D2"/>
        </a:accent3>
        <a:accent4>
          <a:srgbClr val="DADADA"/>
        </a:accent4>
        <a:accent5>
          <a:srgbClr val="AAAAAA"/>
        </a:accent5>
        <a:accent6>
          <a:srgbClr val="9A9A9A"/>
        </a:accent6>
        <a:hlink>
          <a:srgbClr val="FF0000"/>
        </a:hlink>
        <a:folHlink>
          <a:srgbClr val="FFFFFF"/>
        </a:folHlink>
      </a:clrScheme>
      <a:clrMap bg1="dk2" tx1="lt1" bg2="dk1" tx2="lt2" accent1="accent1" accent2="accent2" accent3="accent3" accent4="accent4" accent5="accent5" accent6="accent6" hlink="hlink" folHlink="folHlink"/>
    </a:extraClrScheme>
    <a:extraClrScheme>
      <a:clrScheme name="FinalPowerpoint 4">
        <a:dk1>
          <a:srgbClr val="000000"/>
        </a:dk1>
        <a:lt1>
          <a:srgbClr val="FF0000"/>
        </a:lt1>
        <a:dk2>
          <a:srgbClr val="FFFFFF"/>
        </a:dk2>
        <a:lt2>
          <a:srgbClr val="000000"/>
        </a:lt2>
        <a:accent1>
          <a:srgbClr val="AAAAAA"/>
        </a:accent1>
        <a:accent2>
          <a:srgbClr val="FFFFFF"/>
        </a:accent2>
        <a:accent3>
          <a:srgbClr val="FFAAAA"/>
        </a:accent3>
        <a:accent4>
          <a:srgbClr val="000000"/>
        </a:accent4>
        <a:accent5>
          <a:srgbClr val="D2D2D2"/>
        </a:accent5>
        <a:accent6>
          <a:srgbClr val="E7E7E7"/>
        </a:accent6>
        <a:hlink>
          <a:srgbClr val="000000"/>
        </a:hlink>
        <a:folHlink>
          <a:srgbClr val="AAAAA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47A2A43AAABD5469B61DB917602AD0A" ma:contentTypeVersion="1" ma:contentTypeDescription="Create a new document." ma:contentTypeScope="" ma:versionID="f0ec1b34c6db16f202634cd5064bd620">
  <xsd:schema xmlns:xsd="http://www.w3.org/2001/XMLSchema" xmlns:xs="http://www.w3.org/2001/XMLSchema" xmlns:p="http://schemas.microsoft.com/office/2006/metadata/properties" xmlns:ns2="62ae3181-ea96-4c0f-933c-1fef3480e6d3" targetNamespace="http://schemas.microsoft.com/office/2006/metadata/properties" ma:root="true" ma:fieldsID="72c9c872a62910a445247fc626695c22" ns2:_="">
    <xsd:import namespace="62ae3181-ea96-4c0f-933c-1fef3480e6d3"/>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ae3181-ea96-4c0f-933c-1fef3480e6d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78F04C9-8F37-4E47-8B84-4BE3647AEE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2ae3181-ea96-4c0f-933c-1fef3480e6d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DB7315-5941-44FE-8EEA-B1489A3AE781}">
  <ds:schemaRefs>
    <ds:schemaRef ds:uri="http://schemas.openxmlformats.org/package/2006/metadata/core-properties"/>
    <ds:schemaRef ds:uri="http://schemas.microsoft.com/office/2006/documentManagement/types"/>
    <ds:schemaRef ds:uri="62ae3181-ea96-4c0f-933c-1fef3480e6d3"/>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 ds:uri="http://purl.org/dc/terms/"/>
  </ds:schemaRefs>
</ds:datastoreItem>
</file>

<file path=customXml/itemProps3.xml><?xml version="1.0" encoding="utf-8"?>
<ds:datastoreItem xmlns:ds="http://schemas.openxmlformats.org/officeDocument/2006/customXml" ds:itemID="{F84E9368-282F-4844-B398-975F3DFE077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3998</TotalTime>
  <Words>910</Words>
  <Application>Microsoft Office PowerPoint</Application>
  <PresentationFormat>Custom</PresentationFormat>
  <Paragraphs>70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FinalPowerpoint</vt:lpstr>
      <vt:lpstr>Forecasting Revenue with LSTM: A GUI-Deployable ML tool for Sales and Applications</vt:lpstr>
    </vt:vector>
  </TitlesOfParts>
  <Company>Texas Instruments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here</dc:title>
  <dc:creator>Greene, Matt</dc:creator>
  <cp:lastModifiedBy>varsha v</cp:lastModifiedBy>
  <cp:revision>188</cp:revision>
  <dcterms:created xsi:type="dcterms:W3CDTF">2007-12-19T20:51:45Z</dcterms:created>
  <dcterms:modified xsi:type="dcterms:W3CDTF">2025-11-26T21:17:43Z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0x010100B47A2A43AAABD5469B61DB917602AD0A</vt:lpwstr>
  </property>
</Properties>
</file>